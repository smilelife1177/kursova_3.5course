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7559675" cy="10691813"/>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4"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uk-UA"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uk-UA" sz="3200" b="0" strike="noStrike" spc="-1">
              <a:latin typeface="Arial"/>
            </a:endParaRPr>
          </a:p>
        </p:txBody>
      </p:sp>
      <p:sp>
        <p:nvSpPr>
          <p:cNvPr id="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uk-UA"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1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14" name="PlaceHolder 3"/>
          <p:cNvSpPr>
            <a:spLocks noGrp="1"/>
          </p:cNvSpPr>
          <p:nvPr>
            <p:ph type="body"/>
          </p:nvPr>
        </p:nvSpPr>
        <p:spPr>
          <a:xfrm>
            <a:off x="609480" y="3682080"/>
            <a:ext cx="5354280" cy="1896840"/>
          </a:xfrm>
          <a:prstGeom prst="rect">
            <a:avLst/>
          </a:prstGeom>
        </p:spPr>
        <p:txBody>
          <a:bodyPr lIns="0" tIns="0" rIns="0" bIns="0">
            <a:normAutofit/>
          </a:bodyPr>
          <a:lstStyle/>
          <a:p>
            <a:endParaRPr lang="uk-UA" sz="3200" b="0" strike="noStrike" spc="-1">
              <a:latin typeface="Arial"/>
            </a:endParaRPr>
          </a:p>
        </p:txBody>
      </p:sp>
      <p:sp>
        <p:nvSpPr>
          <p:cNvPr id="15" name="PlaceHolder 4"/>
          <p:cNvSpPr>
            <a:spLocks noGrp="1"/>
          </p:cNvSpPr>
          <p:nvPr>
            <p:ph type="body"/>
          </p:nvPr>
        </p:nvSpPr>
        <p:spPr>
          <a:xfrm>
            <a:off x="6231960" y="1604520"/>
            <a:ext cx="535428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1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uk-UA" sz="3200" b="0" strike="noStrike" spc="-1">
              <a:latin typeface="Arial"/>
            </a:endParaRPr>
          </a:p>
        </p:txBody>
      </p:sp>
      <p:sp>
        <p:nvSpPr>
          <p:cNvPr id="1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1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2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2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2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2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uk-UA" sz="3200" b="0" strike="noStrike" spc="-1">
              <a:latin typeface="Arial"/>
            </a:endParaRPr>
          </a:p>
        </p:txBody>
      </p:sp>
      <p:sp>
        <p:nvSpPr>
          <p:cNvPr id="2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2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2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3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uk-UA" sz="3200" b="0" strike="noStrike" spc="-1">
              <a:latin typeface="Arial"/>
            </a:endParaRPr>
          </a:p>
        </p:txBody>
      </p:sp>
      <p:sp>
        <p:nvSpPr>
          <p:cNvPr id="31" name="PlaceHolder 5"/>
          <p:cNvSpPr>
            <a:spLocks noGrp="1"/>
          </p:cNvSpPr>
          <p:nvPr>
            <p:ph type="body"/>
          </p:nvPr>
        </p:nvSpPr>
        <p:spPr>
          <a:xfrm>
            <a:off x="609480" y="3682080"/>
            <a:ext cx="535428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3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uk-UA" sz="3200" b="0" strike="noStrike" spc="-1">
              <a:latin typeface="Arial"/>
            </a:endParaRPr>
          </a:p>
        </p:txBody>
      </p:sp>
      <p:sp>
        <p:nvSpPr>
          <p:cNvPr id="3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uk-UA" sz="3200" b="0" strike="noStrike" spc="-1">
              <a:latin typeface="Arial"/>
            </a:endParaRPr>
          </a:p>
        </p:txBody>
      </p:sp>
      <p:sp>
        <p:nvSpPr>
          <p:cNvPr id="3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uk-UA" sz="3200" b="0" strike="noStrike" spc="-1">
              <a:latin typeface="Arial"/>
            </a:endParaRPr>
          </a:p>
        </p:txBody>
      </p:sp>
      <p:sp>
        <p:nvSpPr>
          <p:cNvPr id="36" name="PlaceHolder 5"/>
          <p:cNvSpPr>
            <a:spLocks noGrp="1"/>
          </p:cNvSpPr>
          <p:nvPr>
            <p:ph type="body"/>
          </p:nvPr>
        </p:nvSpPr>
        <p:spPr>
          <a:xfrm>
            <a:off x="8029800" y="3682080"/>
            <a:ext cx="3533040" cy="1896840"/>
          </a:xfrm>
          <a:prstGeom prst="rect">
            <a:avLst/>
          </a:prstGeom>
        </p:spPr>
        <p:txBody>
          <a:bodyPr lIns="0" tIns="0" rIns="0" bIns="0">
            <a:normAutofit/>
          </a:bodyPr>
          <a:lstStyle/>
          <a:p>
            <a:endParaRPr lang="uk-UA" sz="3200" b="0" strike="noStrike" spc="-1">
              <a:latin typeface="Arial"/>
            </a:endParaRPr>
          </a:p>
        </p:txBody>
      </p:sp>
      <p:sp>
        <p:nvSpPr>
          <p:cNvPr id="3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uk-UA" sz="3200" b="0" strike="noStrike" spc="-1">
              <a:latin typeface="Arial"/>
            </a:endParaRPr>
          </a:p>
        </p:txBody>
      </p:sp>
      <p:sp>
        <p:nvSpPr>
          <p:cNvPr id="38" name="PlaceHolder 7"/>
          <p:cNvSpPr>
            <a:spLocks noGrp="1"/>
          </p:cNvSpPr>
          <p:nvPr>
            <p:ph type="body"/>
          </p:nvPr>
        </p:nvSpPr>
        <p:spPr>
          <a:xfrm>
            <a:off x="609480" y="3682080"/>
            <a:ext cx="35330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43"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uk-UA"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4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4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uk-UA" sz="3200" b="0" strike="noStrike" spc="-1">
              <a:latin typeface="Arial"/>
            </a:endParaRPr>
          </a:p>
        </p:txBody>
      </p:sp>
      <p:sp>
        <p:nvSpPr>
          <p:cNvPr id="4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uk-UA"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5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53" name="PlaceHolder 3"/>
          <p:cNvSpPr>
            <a:spLocks noGrp="1"/>
          </p:cNvSpPr>
          <p:nvPr>
            <p:ph type="body"/>
          </p:nvPr>
        </p:nvSpPr>
        <p:spPr>
          <a:xfrm>
            <a:off x="609480" y="3682080"/>
            <a:ext cx="5354280" cy="1896840"/>
          </a:xfrm>
          <a:prstGeom prst="rect">
            <a:avLst/>
          </a:prstGeom>
        </p:spPr>
        <p:txBody>
          <a:bodyPr lIns="0" tIns="0" rIns="0" bIns="0">
            <a:normAutofit/>
          </a:bodyPr>
          <a:lstStyle/>
          <a:p>
            <a:endParaRPr lang="uk-UA" sz="3200" b="0" strike="noStrike" spc="-1">
              <a:latin typeface="Arial"/>
            </a:endParaRPr>
          </a:p>
        </p:txBody>
      </p:sp>
      <p:sp>
        <p:nvSpPr>
          <p:cNvPr id="54" name="PlaceHolder 4"/>
          <p:cNvSpPr>
            <a:spLocks noGrp="1"/>
          </p:cNvSpPr>
          <p:nvPr>
            <p:ph type="body"/>
          </p:nvPr>
        </p:nvSpPr>
        <p:spPr>
          <a:xfrm>
            <a:off x="6231960" y="1604520"/>
            <a:ext cx="535428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5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uk-UA" sz="3200" b="0" strike="noStrike" spc="-1">
              <a:latin typeface="Arial"/>
            </a:endParaRPr>
          </a:p>
        </p:txBody>
      </p:sp>
      <p:sp>
        <p:nvSpPr>
          <p:cNvPr id="5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5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6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6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6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6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uk-UA" sz="3200" b="0" strike="noStrike" spc="-1">
              <a:latin typeface="Arial"/>
            </a:endParaRPr>
          </a:p>
        </p:txBody>
      </p:sp>
      <p:sp>
        <p:nvSpPr>
          <p:cNvPr id="6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6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6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6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uk-UA" sz="3200" b="0" strike="noStrike" spc="-1">
              <a:latin typeface="Arial"/>
            </a:endParaRPr>
          </a:p>
        </p:txBody>
      </p:sp>
      <p:sp>
        <p:nvSpPr>
          <p:cNvPr id="70" name="PlaceHolder 5"/>
          <p:cNvSpPr>
            <a:spLocks noGrp="1"/>
          </p:cNvSpPr>
          <p:nvPr>
            <p:ph type="body"/>
          </p:nvPr>
        </p:nvSpPr>
        <p:spPr>
          <a:xfrm>
            <a:off x="609480" y="3682080"/>
            <a:ext cx="535428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7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uk-UA" sz="3200" b="0" strike="noStrike" spc="-1">
              <a:latin typeface="Arial"/>
            </a:endParaRPr>
          </a:p>
        </p:txBody>
      </p:sp>
      <p:sp>
        <p:nvSpPr>
          <p:cNvPr id="7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uk-UA" sz="3200" b="0" strike="noStrike" spc="-1">
              <a:latin typeface="Arial"/>
            </a:endParaRPr>
          </a:p>
        </p:txBody>
      </p:sp>
      <p:sp>
        <p:nvSpPr>
          <p:cNvPr id="7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uk-UA" sz="3200" b="0" strike="noStrike" spc="-1">
              <a:latin typeface="Arial"/>
            </a:endParaRPr>
          </a:p>
        </p:txBody>
      </p:sp>
      <p:sp>
        <p:nvSpPr>
          <p:cNvPr id="75" name="PlaceHolder 5"/>
          <p:cNvSpPr>
            <a:spLocks noGrp="1"/>
          </p:cNvSpPr>
          <p:nvPr>
            <p:ph type="body"/>
          </p:nvPr>
        </p:nvSpPr>
        <p:spPr>
          <a:xfrm>
            <a:off x="8029800" y="3682080"/>
            <a:ext cx="3533040" cy="1896840"/>
          </a:xfrm>
          <a:prstGeom prst="rect">
            <a:avLst/>
          </a:prstGeom>
        </p:spPr>
        <p:txBody>
          <a:bodyPr lIns="0" tIns="0" rIns="0" bIns="0">
            <a:normAutofit/>
          </a:bodyPr>
          <a:lstStyle/>
          <a:p>
            <a:endParaRPr lang="uk-UA" sz="3200" b="0" strike="noStrike" spc="-1">
              <a:latin typeface="Arial"/>
            </a:endParaRPr>
          </a:p>
        </p:txBody>
      </p:sp>
      <p:sp>
        <p:nvSpPr>
          <p:cNvPr id="7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uk-UA" sz="3200" b="0" strike="noStrike" spc="-1">
              <a:latin typeface="Arial"/>
            </a:endParaRPr>
          </a:p>
        </p:txBody>
      </p:sp>
      <p:sp>
        <p:nvSpPr>
          <p:cNvPr id="77" name="PlaceHolder 7"/>
          <p:cNvSpPr>
            <a:spLocks noGrp="1"/>
          </p:cNvSpPr>
          <p:nvPr>
            <p:ph type="body"/>
          </p:nvPr>
        </p:nvSpPr>
        <p:spPr>
          <a:xfrm>
            <a:off x="609480" y="3682080"/>
            <a:ext cx="35330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82"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uk-UA"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84"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8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uk-UA" sz="3200" b="0" strike="noStrike" spc="-1">
              <a:latin typeface="Arial"/>
            </a:endParaRPr>
          </a:p>
        </p:txBody>
      </p:sp>
      <p:sp>
        <p:nvSpPr>
          <p:cNvPr id="8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9"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uk-UA"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9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92" name="PlaceHolder 3"/>
          <p:cNvSpPr>
            <a:spLocks noGrp="1"/>
          </p:cNvSpPr>
          <p:nvPr>
            <p:ph type="body"/>
          </p:nvPr>
        </p:nvSpPr>
        <p:spPr>
          <a:xfrm>
            <a:off x="609480" y="3682080"/>
            <a:ext cx="5354280" cy="1896840"/>
          </a:xfrm>
          <a:prstGeom prst="rect">
            <a:avLst/>
          </a:prstGeom>
        </p:spPr>
        <p:txBody>
          <a:bodyPr lIns="0" tIns="0" rIns="0" bIns="0">
            <a:normAutofit/>
          </a:bodyPr>
          <a:lstStyle/>
          <a:p>
            <a:endParaRPr lang="uk-UA" sz="3200" b="0" strike="noStrike" spc="-1">
              <a:latin typeface="Arial"/>
            </a:endParaRPr>
          </a:p>
        </p:txBody>
      </p:sp>
      <p:sp>
        <p:nvSpPr>
          <p:cNvPr id="93" name="PlaceHolder 4"/>
          <p:cNvSpPr>
            <a:spLocks noGrp="1"/>
          </p:cNvSpPr>
          <p:nvPr>
            <p:ph type="body"/>
          </p:nvPr>
        </p:nvSpPr>
        <p:spPr>
          <a:xfrm>
            <a:off x="6231960" y="1604520"/>
            <a:ext cx="5354280" cy="397728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9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uk-UA" sz="3200" b="0" strike="noStrike" spc="-1">
              <a:latin typeface="Arial"/>
            </a:endParaRPr>
          </a:p>
        </p:txBody>
      </p:sp>
      <p:sp>
        <p:nvSpPr>
          <p:cNvPr id="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97"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9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10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101"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103"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uk-UA" sz="3200" b="0" strike="noStrike" spc="-1">
              <a:latin typeface="Arial"/>
            </a:endParaRPr>
          </a:p>
        </p:txBody>
      </p:sp>
      <p:sp>
        <p:nvSpPr>
          <p:cNvPr id="104"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10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uk-UA" sz="3200" b="0" strike="noStrike" spc="-1">
              <a:latin typeface="Arial"/>
            </a:endParaRPr>
          </a:p>
        </p:txBody>
      </p:sp>
      <p:sp>
        <p:nvSpPr>
          <p:cNvPr id="10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uk-UA" sz="3200" b="0" strike="noStrike" spc="-1">
              <a:latin typeface="Arial"/>
            </a:endParaRPr>
          </a:p>
        </p:txBody>
      </p:sp>
      <p:sp>
        <p:nvSpPr>
          <p:cNvPr id="10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uk-UA" sz="3200" b="0" strike="noStrike" spc="-1">
              <a:latin typeface="Arial"/>
            </a:endParaRPr>
          </a:p>
        </p:txBody>
      </p:sp>
      <p:sp>
        <p:nvSpPr>
          <p:cNvPr id="109" name="PlaceHolder 5"/>
          <p:cNvSpPr>
            <a:spLocks noGrp="1"/>
          </p:cNvSpPr>
          <p:nvPr>
            <p:ph type="body"/>
          </p:nvPr>
        </p:nvSpPr>
        <p:spPr>
          <a:xfrm>
            <a:off x="609480" y="3682080"/>
            <a:ext cx="535428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uk-UA" sz="4400" b="0" strike="noStrike" spc="-1">
              <a:latin typeface="Arial"/>
            </a:endParaRPr>
          </a:p>
        </p:txBody>
      </p:sp>
      <p:sp>
        <p:nvSpPr>
          <p:cNvPr id="111"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uk-UA" sz="3200" b="0" strike="noStrike" spc="-1">
              <a:latin typeface="Arial"/>
            </a:endParaRPr>
          </a:p>
        </p:txBody>
      </p:sp>
      <p:sp>
        <p:nvSpPr>
          <p:cNvPr id="112"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uk-UA" sz="3200" b="0" strike="noStrike" spc="-1">
              <a:latin typeface="Arial"/>
            </a:endParaRPr>
          </a:p>
        </p:txBody>
      </p:sp>
      <p:sp>
        <p:nvSpPr>
          <p:cNvPr id="113"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uk-UA" sz="3200" b="0" strike="noStrike" spc="-1">
              <a:latin typeface="Arial"/>
            </a:endParaRPr>
          </a:p>
        </p:txBody>
      </p:sp>
      <p:sp>
        <p:nvSpPr>
          <p:cNvPr id="114" name="PlaceHolder 5"/>
          <p:cNvSpPr>
            <a:spLocks noGrp="1"/>
          </p:cNvSpPr>
          <p:nvPr>
            <p:ph type="body"/>
          </p:nvPr>
        </p:nvSpPr>
        <p:spPr>
          <a:xfrm>
            <a:off x="8029800" y="3682080"/>
            <a:ext cx="3533040" cy="1896840"/>
          </a:xfrm>
          <a:prstGeom prst="rect">
            <a:avLst/>
          </a:prstGeom>
        </p:spPr>
        <p:txBody>
          <a:bodyPr lIns="0" tIns="0" rIns="0" bIns="0">
            <a:normAutofit/>
          </a:bodyPr>
          <a:lstStyle/>
          <a:p>
            <a:endParaRPr lang="uk-UA" sz="3200" b="0" strike="noStrike" spc="-1">
              <a:latin typeface="Arial"/>
            </a:endParaRPr>
          </a:p>
        </p:txBody>
      </p:sp>
      <p:sp>
        <p:nvSpPr>
          <p:cNvPr id="115"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uk-UA" sz="3200" b="0" strike="noStrike" spc="-1">
              <a:latin typeface="Arial"/>
            </a:endParaRPr>
          </a:p>
        </p:txBody>
      </p:sp>
      <p:sp>
        <p:nvSpPr>
          <p:cNvPr id="116" name="PlaceHolder 7"/>
          <p:cNvSpPr>
            <a:spLocks noGrp="1"/>
          </p:cNvSpPr>
          <p:nvPr>
            <p:ph type="body"/>
          </p:nvPr>
        </p:nvSpPr>
        <p:spPr>
          <a:xfrm>
            <a:off x="609480" y="3682080"/>
            <a:ext cx="3533040" cy="1896840"/>
          </a:xfrm>
          <a:prstGeom prst="rect">
            <a:avLst/>
          </a:prstGeom>
        </p:spPr>
        <p:txBody>
          <a:bodyPr lIns="0" tIns="0" rIns="0" bIns="0">
            <a:normAutofit/>
          </a:bodyPr>
          <a:lstStyle/>
          <a:p>
            <a:endParaRPr lang="uk-UA"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Рисунок 2"/>
          <p:cNvPicPr/>
          <p:nvPr/>
        </p:nvPicPr>
        <p:blipFill>
          <a:blip r:embed="rId14"/>
          <a:stretch/>
        </p:blipFill>
        <p:spPr>
          <a:xfrm>
            <a:off x="720" y="360"/>
            <a:ext cx="12190680" cy="6856560"/>
          </a:xfrm>
          <a:prstGeom prst="rect">
            <a:avLst/>
          </a:prstGeom>
          <a:ln>
            <a:noFill/>
          </a:ln>
        </p:spPr>
      </p:pic>
      <p:sp>
        <p:nvSpPr>
          <p:cNvPr id="4" name="PlaceHolder 1"/>
          <p:cNvSpPr>
            <a:spLocks noGrp="1"/>
          </p:cNvSpPr>
          <p:nvPr>
            <p:ph type="title"/>
          </p:nvPr>
        </p:nvSpPr>
        <p:spPr>
          <a:xfrm>
            <a:off x="609480" y="273600"/>
            <a:ext cx="10972440" cy="1144800"/>
          </a:xfrm>
          <a:prstGeom prst="rect">
            <a:avLst/>
          </a:prstGeom>
        </p:spPr>
        <p:txBody>
          <a:bodyPr lIns="0" tIns="0" rIns="0" bIns="0" anchor="ctr"/>
          <a:lstStyle/>
          <a:p>
            <a:pPr algn="ctr"/>
            <a:r>
              <a:rPr lang="uk-UA" sz="4400" b="0" strike="noStrike" spc="-1">
                <a:latin typeface="Arial"/>
              </a:rPr>
              <a:t>Для правки тексту заголовка клацніть мишею</a:t>
            </a:r>
          </a:p>
        </p:txBody>
      </p:sp>
      <p:sp>
        <p:nvSpPr>
          <p:cNvPr id="2"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uk-UA" sz="3200" b="0" strike="noStrike" spc="-1">
                <a:latin typeface="Arial"/>
              </a:rPr>
              <a:t>Для редагування структури клацніть мишею</a:t>
            </a:r>
          </a:p>
          <a:p>
            <a:pPr marL="864000" lvl="1" indent="-324000">
              <a:spcBef>
                <a:spcPts val="1134"/>
              </a:spcBef>
              <a:buClr>
                <a:srgbClr val="000000"/>
              </a:buClr>
              <a:buSzPct val="75000"/>
              <a:buFont typeface="Symbol" charset="2"/>
              <a:buChar char=""/>
            </a:pPr>
            <a:r>
              <a:rPr lang="uk-UA" sz="2800" b="0" strike="noStrike" spc="-1">
                <a:latin typeface="Arial"/>
              </a:rPr>
              <a:t>Другий рівень структури</a:t>
            </a:r>
          </a:p>
          <a:p>
            <a:pPr marL="1296000" lvl="2" indent="-288000">
              <a:spcBef>
                <a:spcPts val="850"/>
              </a:spcBef>
              <a:buClr>
                <a:srgbClr val="000000"/>
              </a:buClr>
              <a:buSzPct val="45000"/>
              <a:buFont typeface="Wingdings" charset="2"/>
              <a:buChar char=""/>
            </a:pPr>
            <a:r>
              <a:rPr lang="uk-UA" sz="2400" b="0" strike="noStrike" spc="-1">
                <a:latin typeface="Arial"/>
              </a:rPr>
              <a:t>Третій рівень структури</a:t>
            </a:r>
          </a:p>
          <a:p>
            <a:pPr marL="1728000" lvl="3" indent="-216000">
              <a:spcBef>
                <a:spcPts val="567"/>
              </a:spcBef>
              <a:buClr>
                <a:srgbClr val="000000"/>
              </a:buClr>
              <a:buSzPct val="75000"/>
              <a:buFont typeface="Symbol" charset="2"/>
              <a:buChar char=""/>
            </a:pPr>
            <a:r>
              <a:rPr lang="uk-UA" sz="2000" b="0" strike="noStrike" spc="-1">
                <a:latin typeface="Arial"/>
              </a:rPr>
              <a:t>Четвертий рівень структури</a:t>
            </a:r>
          </a:p>
          <a:p>
            <a:pPr marL="2160000" lvl="4" indent="-216000">
              <a:spcBef>
                <a:spcPts val="283"/>
              </a:spcBef>
              <a:buClr>
                <a:srgbClr val="000000"/>
              </a:buClr>
              <a:buSzPct val="45000"/>
              <a:buFont typeface="Wingdings" charset="2"/>
              <a:buChar char=""/>
            </a:pPr>
            <a:r>
              <a:rPr lang="uk-UA" sz="2000" b="0" strike="noStrike" spc="-1">
                <a:latin typeface="Arial"/>
              </a:rPr>
              <a:t>П'ятий рівень структури</a:t>
            </a:r>
          </a:p>
          <a:p>
            <a:pPr marL="2592000" lvl="5" indent="-216000">
              <a:spcBef>
                <a:spcPts val="283"/>
              </a:spcBef>
              <a:buClr>
                <a:srgbClr val="000000"/>
              </a:buClr>
              <a:buSzPct val="45000"/>
              <a:buFont typeface="Wingdings" charset="2"/>
              <a:buChar char=""/>
            </a:pPr>
            <a:r>
              <a:rPr lang="uk-UA" sz="2000" b="0" strike="noStrike" spc="-1">
                <a:latin typeface="Arial"/>
              </a:rPr>
              <a:t>Шостий рівень структури</a:t>
            </a:r>
          </a:p>
          <a:p>
            <a:pPr marL="3024000" lvl="6" indent="-216000">
              <a:spcBef>
                <a:spcPts val="283"/>
              </a:spcBef>
              <a:buClr>
                <a:srgbClr val="000000"/>
              </a:buClr>
              <a:buSzPct val="45000"/>
              <a:buFont typeface="Wingdings" charset="2"/>
              <a:buChar char=""/>
            </a:pPr>
            <a:r>
              <a:rPr lang="uk-UA" sz="2000" b="0" strike="noStrike" spc="-1">
                <a:latin typeface="Arial"/>
              </a:rPr>
              <a:t>Сьомий рівень структури</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9" name="Рисунок 38"/>
          <p:cNvPicPr/>
          <p:nvPr/>
        </p:nvPicPr>
        <p:blipFill>
          <a:blip r:embed="rId14"/>
          <a:stretch/>
        </p:blipFill>
        <p:spPr>
          <a:xfrm>
            <a:off x="720" y="360"/>
            <a:ext cx="12190680" cy="6856560"/>
          </a:xfrm>
          <a:prstGeom prst="rect">
            <a:avLst/>
          </a:prstGeom>
          <a:ln>
            <a:noFill/>
          </a:ln>
        </p:spPr>
      </p:pic>
      <p:sp>
        <p:nvSpPr>
          <p:cNvPr id="40" name="PlaceHolder 1"/>
          <p:cNvSpPr>
            <a:spLocks noGrp="1"/>
          </p:cNvSpPr>
          <p:nvPr>
            <p:ph type="title"/>
          </p:nvPr>
        </p:nvSpPr>
        <p:spPr>
          <a:xfrm>
            <a:off x="609480" y="273600"/>
            <a:ext cx="10972440" cy="1144800"/>
          </a:xfrm>
          <a:prstGeom prst="rect">
            <a:avLst/>
          </a:prstGeom>
        </p:spPr>
        <p:txBody>
          <a:bodyPr lIns="0" tIns="0" rIns="0" bIns="0" anchor="ctr"/>
          <a:lstStyle/>
          <a:p>
            <a:pPr algn="ctr"/>
            <a:r>
              <a:rPr lang="uk-UA" sz="4400" b="0" strike="noStrike" spc="-1">
                <a:latin typeface="Arial"/>
              </a:rPr>
              <a:t>Для правки тексту заголовка клацніть мишею</a:t>
            </a:r>
          </a:p>
        </p:txBody>
      </p:sp>
      <p:sp>
        <p:nvSpPr>
          <p:cNvPr id="41"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uk-UA" sz="3200" b="0" strike="noStrike" spc="-1">
                <a:latin typeface="Arial"/>
              </a:rPr>
              <a:t>Для редагування структури клацніть мишею</a:t>
            </a:r>
          </a:p>
          <a:p>
            <a:pPr marL="864000" lvl="1" indent="-324000">
              <a:spcBef>
                <a:spcPts val="1134"/>
              </a:spcBef>
              <a:buClr>
                <a:srgbClr val="000000"/>
              </a:buClr>
              <a:buSzPct val="75000"/>
              <a:buFont typeface="Symbol" charset="2"/>
              <a:buChar char=""/>
            </a:pPr>
            <a:r>
              <a:rPr lang="uk-UA" sz="2800" b="0" strike="noStrike" spc="-1">
                <a:latin typeface="Arial"/>
              </a:rPr>
              <a:t>Другий рівень структури</a:t>
            </a:r>
          </a:p>
          <a:p>
            <a:pPr marL="1296000" lvl="2" indent="-288000">
              <a:spcBef>
                <a:spcPts val="850"/>
              </a:spcBef>
              <a:buClr>
                <a:srgbClr val="000000"/>
              </a:buClr>
              <a:buSzPct val="45000"/>
              <a:buFont typeface="Wingdings" charset="2"/>
              <a:buChar char=""/>
            </a:pPr>
            <a:r>
              <a:rPr lang="uk-UA" sz="2400" b="0" strike="noStrike" spc="-1">
                <a:latin typeface="Arial"/>
              </a:rPr>
              <a:t>Третій рівень структури</a:t>
            </a:r>
          </a:p>
          <a:p>
            <a:pPr marL="1728000" lvl="3" indent="-216000">
              <a:spcBef>
                <a:spcPts val="567"/>
              </a:spcBef>
              <a:buClr>
                <a:srgbClr val="000000"/>
              </a:buClr>
              <a:buSzPct val="75000"/>
              <a:buFont typeface="Symbol" charset="2"/>
              <a:buChar char=""/>
            </a:pPr>
            <a:r>
              <a:rPr lang="uk-UA" sz="2000" b="0" strike="noStrike" spc="-1">
                <a:latin typeface="Arial"/>
              </a:rPr>
              <a:t>Четвертий рівень структури</a:t>
            </a:r>
          </a:p>
          <a:p>
            <a:pPr marL="2160000" lvl="4" indent="-216000">
              <a:spcBef>
                <a:spcPts val="283"/>
              </a:spcBef>
              <a:buClr>
                <a:srgbClr val="000000"/>
              </a:buClr>
              <a:buSzPct val="45000"/>
              <a:buFont typeface="Wingdings" charset="2"/>
              <a:buChar char=""/>
            </a:pPr>
            <a:r>
              <a:rPr lang="uk-UA" sz="2000" b="0" strike="noStrike" spc="-1">
                <a:latin typeface="Arial"/>
              </a:rPr>
              <a:t>П'ятий рівень структури</a:t>
            </a:r>
          </a:p>
          <a:p>
            <a:pPr marL="2592000" lvl="5" indent="-216000">
              <a:spcBef>
                <a:spcPts val="283"/>
              </a:spcBef>
              <a:buClr>
                <a:srgbClr val="000000"/>
              </a:buClr>
              <a:buSzPct val="45000"/>
              <a:buFont typeface="Wingdings" charset="2"/>
              <a:buChar char=""/>
            </a:pPr>
            <a:r>
              <a:rPr lang="uk-UA" sz="2000" b="0" strike="noStrike" spc="-1">
                <a:latin typeface="Arial"/>
              </a:rPr>
              <a:t>Шостий рівень структури</a:t>
            </a:r>
          </a:p>
          <a:p>
            <a:pPr marL="3024000" lvl="6" indent="-216000">
              <a:spcBef>
                <a:spcPts val="283"/>
              </a:spcBef>
              <a:buClr>
                <a:srgbClr val="000000"/>
              </a:buClr>
              <a:buSzPct val="45000"/>
              <a:buFont typeface="Wingdings" charset="2"/>
              <a:buChar char=""/>
            </a:pPr>
            <a:r>
              <a:rPr lang="uk-UA" sz="2000" b="0" strike="noStrike" spc="-1">
                <a:latin typeface="Arial"/>
              </a:rPr>
              <a:t>Сьомий рівень структури</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8" name="Рисунок 77"/>
          <p:cNvPicPr/>
          <p:nvPr/>
        </p:nvPicPr>
        <p:blipFill>
          <a:blip r:embed="rId14"/>
          <a:stretch/>
        </p:blipFill>
        <p:spPr>
          <a:xfrm>
            <a:off x="720" y="360"/>
            <a:ext cx="12190680" cy="6856560"/>
          </a:xfrm>
          <a:prstGeom prst="rect">
            <a:avLst/>
          </a:prstGeom>
          <a:ln>
            <a:noFill/>
          </a:ln>
        </p:spPr>
      </p:pic>
      <p:sp>
        <p:nvSpPr>
          <p:cNvPr id="79" name="PlaceHolder 1"/>
          <p:cNvSpPr>
            <a:spLocks noGrp="1"/>
          </p:cNvSpPr>
          <p:nvPr>
            <p:ph type="title"/>
          </p:nvPr>
        </p:nvSpPr>
        <p:spPr>
          <a:xfrm>
            <a:off x="609480" y="273600"/>
            <a:ext cx="10972440" cy="1144800"/>
          </a:xfrm>
          <a:prstGeom prst="rect">
            <a:avLst/>
          </a:prstGeom>
        </p:spPr>
        <p:txBody>
          <a:bodyPr lIns="0" tIns="0" rIns="0" bIns="0" anchor="ctr"/>
          <a:lstStyle/>
          <a:p>
            <a:pPr algn="ctr"/>
            <a:r>
              <a:rPr lang="uk-UA" sz="4400" b="0" strike="noStrike" spc="-1">
                <a:latin typeface="Arial"/>
              </a:rPr>
              <a:t>Для правки тексту заголовка клацніть мишею</a:t>
            </a:r>
          </a:p>
        </p:txBody>
      </p:sp>
      <p:sp>
        <p:nvSpPr>
          <p:cNvPr id="80"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uk-UA" sz="3200" b="0" strike="noStrike" spc="-1">
                <a:latin typeface="Arial"/>
              </a:rPr>
              <a:t>Для редагування структури клацніть мишею</a:t>
            </a:r>
          </a:p>
          <a:p>
            <a:pPr marL="864000" lvl="1" indent="-324000">
              <a:spcBef>
                <a:spcPts val="1134"/>
              </a:spcBef>
              <a:buClr>
                <a:srgbClr val="000000"/>
              </a:buClr>
              <a:buSzPct val="75000"/>
              <a:buFont typeface="Symbol" charset="2"/>
              <a:buChar char=""/>
            </a:pPr>
            <a:r>
              <a:rPr lang="uk-UA" sz="2800" b="0" strike="noStrike" spc="-1">
                <a:latin typeface="Arial"/>
              </a:rPr>
              <a:t>Другий рівень структури</a:t>
            </a:r>
          </a:p>
          <a:p>
            <a:pPr marL="1296000" lvl="2" indent="-288000">
              <a:spcBef>
                <a:spcPts val="850"/>
              </a:spcBef>
              <a:buClr>
                <a:srgbClr val="000000"/>
              </a:buClr>
              <a:buSzPct val="45000"/>
              <a:buFont typeface="Wingdings" charset="2"/>
              <a:buChar char=""/>
            </a:pPr>
            <a:r>
              <a:rPr lang="uk-UA" sz="2400" b="0" strike="noStrike" spc="-1">
                <a:latin typeface="Arial"/>
              </a:rPr>
              <a:t>Третій рівень структури</a:t>
            </a:r>
          </a:p>
          <a:p>
            <a:pPr marL="1728000" lvl="3" indent="-216000">
              <a:spcBef>
                <a:spcPts val="567"/>
              </a:spcBef>
              <a:buClr>
                <a:srgbClr val="000000"/>
              </a:buClr>
              <a:buSzPct val="75000"/>
              <a:buFont typeface="Symbol" charset="2"/>
              <a:buChar char=""/>
            </a:pPr>
            <a:r>
              <a:rPr lang="uk-UA" sz="2000" b="0" strike="noStrike" spc="-1">
                <a:latin typeface="Arial"/>
              </a:rPr>
              <a:t>Четвертий рівень структури</a:t>
            </a:r>
          </a:p>
          <a:p>
            <a:pPr marL="2160000" lvl="4" indent="-216000">
              <a:spcBef>
                <a:spcPts val="283"/>
              </a:spcBef>
              <a:buClr>
                <a:srgbClr val="000000"/>
              </a:buClr>
              <a:buSzPct val="45000"/>
              <a:buFont typeface="Wingdings" charset="2"/>
              <a:buChar char=""/>
            </a:pPr>
            <a:r>
              <a:rPr lang="uk-UA" sz="2000" b="0" strike="noStrike" spc="-1">
                <a:latin typeface="Arial"/>
              </a:rPr>
              <a:t>П'ятий рівень структури</a:t>
            </a:r>
          </a:p>
          <a:p>
            <a:pPr marL="2592000" lvl="5" indent="-216000">
              <a:spcBef>
                <a:spcPts val="283"/>
              </a:spcBef>
              <a:buClr>
                <a:srgbClr val="000000"/>
              </a:buClr>
              <a:buSzPct val="45000"/>
              <a:buFont typeface="Wingdings" charset="2"/>
              <a:buChar char=""/>
            </a:pPr>
            <a:r>
              <a:rPr lang="uk-UA" sz="2000" b="0" strike="noStrike" spc="-1">
                <a:latin typeface="Arial"/>
              </a:rPr>
              <a:t>Шостий рівень структури</a:t>
            </a:r>
          </a:p>
          <a:p>
            <a:pPr marL="3024000" lvl="6" indent="-216000">
              <a:spcBef>
                <a:spcPts val="283"/>
              </a:spcBef>
              <a:buClr>
                <a:srgbClr val="000000"/>
              </a:buClr>
              <a:buSzPct val="45000"/>
              <a:buFont typeface="Wingdings" charset="2"/>
              <a:buChar char=""/>
            </a:pPr>
            <a:r>
              <a:rPr lang="uk-UA" sz="2000" b="0" strike="noStrike" spc="-1">
                <a:latin typeface="Arial"/>
              </a:rPr>
              <a:t>Сьомий рівень структури</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CustomShape 1"/>
          <p:cNvSpPr/>
          <p:nvPr/>
        </p:nvSpPr>
        <p:spPr>
          <a:xfrm>
            <a:off x="1296000" y="2458080"/>
            <a:ext cx="9862920" cy="164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r>
              <a:rPr lang="uk-UA" sz="5400" b="0" strike="noStrike" spc="-1">
                <a:solidFill>
                  <a:srgbClr val="90C226"/>
                </a:solidFill>
                <a:latin typeface="Trebuchet MS"/>
                <a:ea typeface="DejaVu Sans"/>
              </a:rPr>
              <a:t>Перцептрон та його різновиди</a:t>
            </a:r>
            <a:endParaRPr lang="uk-UA" sz="54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stomShape 1"/>
          <p:cNvSpPr/>
          <p:nvPr/>
        </p:nvSpPr>
        <p:spPr>
          <a:xfrm>
            <a:off x="432000" y="1296000"/>
            <a:ext cx="293652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Штучна нейронна мережа</a:t>
            </a:r>
            <a:endParaRPr lang="uk-UA" sz="1800" b="0" strike="noStrike" spc="-1">
              <a:latin typeface="Arial"/>
            </a:endParaRPr>
          </a:p>
        </p:txBody>
      </p:sp>
      <p:pic>
        <p:nvPicPr>
          <p:cNvPr id="119" name="Рисунок 118"/>
          <p:cNvPicPr/>
          <p:nvPr/>
        </p:nvPicPr>
        <p:blipFill>
          <a:blip r:embed="rId2"/>
          <a:stretch/>
        </p:blipFill>
        <p:spPr>
          <a:xfrm>
            <a:off x="7344000" y="1728000"/>
            <a:ext cx="4014360" cy="2500560"/>
          </a:xfrm>
          <a:prstGeom prst="rect">
            <a:avLst/>
          </a:prstGeom>
          <a:ln>
            <a:noFill/>
          </a:ln>
        </p:spPr>
      </p:pic>
      <p:sp>
        <p:nvSpPr>
          <p:cNvPr id="120" name="CustomShape 2"/>
          <p:cNvSpPr/>
          <p:nvPr/>
        </p:nvSpPr>
        <p:spPr>
          <a:xfrm>
            <a:off x="376920" y="1777320"/>
            <a:ext cx="6822000" cy="160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це математична модель, а також її програмна та апаратна реалізація, побудовані за принципом функціювання біологічних нейронних мереж — мереж нервових клітин живого організму. Це поняття виникло при вивченні процесів, які відбуваються в мозку, та при намаганні змоделювати ці процеси.</a:t>
            </a:r>
            <a:endParaRPr lang="uk-UA" sz="1800" b="0" strike="noStrike" spc="-1">
              <a:latin typeface="Arial"/>
            </a:endParaRPr>
          </a:p>
        </p:txBody>
      </p:sp>
      <p:sp>
        <p:nvSpPr>
          <p:cNvPr id="121" name="CustomShape 3"/>
          <p:cNvSpPr/>
          <p:nvPr/>
        </p:nvSpPr>
        <p:spPr>
          <a:xfrm>
            <a:off x="360000" y="3433320"/>
            <a:ext cx="7054920" cy="1101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Після розробки алгоритмів навчання отримувані моделі стали використовуватися в практичних цілях: в задачах прогнозування, для розпізнавання образів, в задачах керування тощо.</a:t>
            </a:r>
            <a:endParaRPr lang="uk-UA" sz="1800" b="0" strike="noStrike" spc="-1">
              <a:latin typeface="Arial"/>
            </a:endParaRPr>
          </a:p>
        </p:txBody>
      </p:sp>
      <p:sp>
        <p:nvSpPr>
          <p:cNvPr id="122" name="CustomShape 4"/>
          <p:cNvSpPr/>
          <p:nvPr/>
        </p:nvSpPr>
        <p:spPr>
          <a:xfrm>
            <a:off x="360000" y="4550400"/>
            <a:ext cx="11374920" cy="84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Нейронні мережі не програмуються в звичайному розумінні цього слова, вони навчаються. Можливість навчання — одна з головних переваг нейронних мереж перед традиційними алгоритмами.</a:t>
            </a:r>
            <a:endParaRPr lang="uk-UA" sz="1800" b="0" strike="noStrike" spc="-1">
              <a:latin typeface="Arial"/>
            </a:endParaRPr>
          </a:p>
        </p:txBody>
      </p:sp>
      <p:sp>
        <p:nvSpPr>
          <p:cNvPr id="123" name="CustomShape 5"/>
          <p:cNvSpPr/>
          <p:nvPr/>
        </p:nvSpPr>
        <p:spPr>
          <a:xfrm>
            <a:off x="360000" y="5196240"/>
            <a:ext cx="11230920" cy="135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Технічно, навчання полягає в знаходженні коефіцієнтів зв'язків між нейронами. В процесі навчання нейронна мережа здатна виявляти складні залежності між вхідними даними й вихідними, а також здійснювати узагальнення. Це означає, що в разі успішного навчання мережа зможе повернути правильний результат на підставі даних, які були відсутні в навчальній вибірці</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 name="Рисунок 123"/>
          <p:cNvPicPr/>
          <p:nvPr/>
        </p:nvPicPr>
        <p:blipFill>
          <a:blip r:embed="rId2"/>
          <a:stretch/>
        </p:blipFill>
        <p:spPr>
          <a:xfrm>
            <a:off x="7473960" y="3744000"/>
            <a:ext cx="3612960" cy="2590920"/>
          </a:xfrm>
          <a:prstGeom prst="rect">
            <a:avLst/>
          </a:prstGeom>
          <a:ln>
            <a:noFill/>
          </a:ln>
        </p:spPr>
      </p:pic>
      <p:sp>
        <p:nvSpPr>
          <p:cNvPr id="125" name="CustomShape 1"/>
          <p:cNvSpPr/>
          <p:nvPr/>
        </p:nvSpPr>
        <p:spPr>
          <a:xfrm>
            <a:off x="1368000" y="4176000"/>
            <a:ext cx="5110920" cy="2113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Схема штучного нейрону</a:t>
            </a:r>
            <a:endParaRPr lang="uk-UA" sz="1800" b="0" strike="noStrike" spc="-1">
              <a:latin typeface="Arial"/>
            </a:endParaRPr>
          </a:p>
          <a:p>
            <a:r>
              <a:rPr lang="uk-UA" sz="1800" b="0" strike="noStrike" spc="-1">
                <a:solidFill>
                  <a:srgbClr val="000000"/>
                </a:solidFill>
                <a:latin typeface="Arial"/>
                <a:ea typeface="DejaVu Sans"/>
              </a:rPr>
              <a:t>1. Нейрони, вхідні сигнали яких надходять на вхід даного нейрону</a:t>
            </a:r>
            <a:endParaRPr lang="uk-UA" sz="1800" b="0" strike="noStrike" spc="-1">
              <a:latin typeface="Arial"/>
            </a:endParaRPr>
          </a:p>
          <a:p>
            <a:r>
              <a:rPr lang="uk-UA" sz="1800" b="0" strike="noStrike" spc="-1">
                <a:solidFill>
                  <a:srgbClr val="000000"/>
                </a:solidFill>
                <a:latin typeface="Arial"/>
                <a:ea typeface="DejaVu Sans"/>
              </a:rPr>
              <a:t>2. Суматор вхідних сигналів</a:t>
            </a:r>
            <a:endParaRPr lang="uk-UA" sz="1800" b="0" strike="noStrike" spc="-1">
              <a:latin typeface="Arial"/>
            </a:endParaRPr>
          </a:p>
          <a:p>
            <a:r>
              <a:rPr lang="uk-UA" sz="1800" b="0" strike="noStrike" spc="-1">
                <a:solidFill>
                  <a:srgbClr val="000000"/>
                </a:solidFill>
                <a:latin typeface="Arial"/>
                <a:ea typeface="DejaVu Sans"/>
              </a:rPr>
              <a:t>3. Обчислювач передавальної функції</a:t>
            </a:r>
            <a:endParaRPr lang="uk-UA" sz="1800" b="0" strike="noStrike" spc="-1">
              <a:latin typeface="Arial"/>
            </a:endParaRPr>
          </a:p>
          <a:p>
            <a:r>
              <a:rPr lang="uk-UA" sz="1800" b="0" strike="noStrike" spc="-1">
                <a:solidFill>
                  <a:srgbClr val="000000"/>
                </a:solidFill>
                <a:latin typeface="Arial"/>
                <a:ea typeface="DejaVu Sans"/>
              </a:rPr>
              <a:t>4. Нейрони, на входи яких подається сигнал даного нейрону</a:t>
            </a:r>
            <a:endParaRPr lang="uk-UA" sz="1800" b="0" strike="noStrike" spc="-1">
              <a:latin typeface="Arial"/>
            </a:endParaRPr>
          </a:p>
          <a:p>
            <a:r>
              <a:rPr lang="uk-UA" sz="1800" b="0" strike="noStrike" spc="-1">
                <a:solidFill>
                  <a:srgbClr val="000000"/>
                </a:solidFill>
                <a:latin typeface="Arial"/>
                <a:ea typeface="DejaVu Sans"/>
              </a:rPr>
              <a:t>5. w — ваги вхідних сигналів</a:t>
            </a:r>
            <a:endParaRPr lang="uk-UA" sz="1800" b="0" strike="noStrike" spc="-1">
              <a:latin typeface="Arial"/>
            </a:endParaRPr>
          </a:p>
        </p:txBody>
      </p:sp>
      <p:sp>
        <p:nvSpPr>
          <p:cNvPr id="126" name="CustomShape 2"/>
          <p:cNvSpPr/>
          <p:nvPr/>
        </p:nvSpPr>
        <p:spPr>
          <a:xfrm>
            <a:off x="392040" y="1542240"/>
            <a:ext cx="193536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Штучний нейрон </a:t>
            </a:r>
            <a:endParaRPr lang="uk-UA" sz="1800" b="0" strike="noStrike" spc="-1">
              <a:latin typeface="Arial"/>
            </a:endParaRPr>
          </a:p>
        </p:txBody>
      </p:sp>
      <p:sp>
        <p:nvSpPr>
          <p:cNvPr id="127" name="CustomShape 3"/>
          <p:cNvSpPr/>
          <p:nvPr/>
        </p:nvSpPr>
        <p:spPr>
          <a:xfrm>
            <a:off x="432000" y="1886040"/>
            <a:ext cx="11374920" cy="84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вузол штучної нейронної мережі, що є спрощеною моделлю природного нейрона. Математично, штучний нейрон зазвичай представляють як деяку нелінійну функцію від єдиного аргументу - лінійної комбінації всіх вхідних сигналів. Цю функцію називають функцією активації.</a:t>
            </a:r>
            <a:endParaRPr lang="uk-UA" sz="1800" b="0" strike="noStrike" spc="-1">
              <a:latin typeface="Arial"/>
            </a:endParaRPr>
          </a:p>
        </p:txBody>
      </p:sp>
      <p:sp>
        <p:nvSpPr>
          <p:cNvPr id="128" name="CustomShape 4"/>
          <p:cNvSpPr/>
          <p:nvPr/>
        </p:nvSpPr>
        <p:spPr>
          <a:xfrm>
            <a:off x="432000" y="2929320"/>
            <a:ext cx="10654920" cy="1101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Отриманий результат посилається на єдиний вихід. Такі штучні нейрони об'єднують в мережі - з'єднують виходи одних нейронів з входами інших. Штучні нейрони та мережі є основними елементами ідеального нейрокомп'ютеру.</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ustomShape 1"/>
          <p:cNvSpPr/>
          <p:nvPr/>
        </p:nvSpPr>
        <p:spPr>
          <a:xfrm>
            <a:off x="350280" y="1440000"/>
            <a:ext cx="24566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Математична модель</a:t>
            </a:r>
            <a:endParaRPr lang="uk-UA" sz="1800" b="0" strike="noStrike" spc="-1">
              <a:latin typeface="Arial"/>
            </a:endParaRPr>
          </a:p>
        </p:txBody>
      </p:sp>
      <p:sp>
        <p:nvSpPr>
          <p:cNvPr id="130" name="CustomShape 2"/>
          <p:cNvSpPr/>
          <p:nvPr/>
        </p:nvSpPr>
        <p:spPr>
          <a:xfrm>
            <a:off x="360000" y="1779120"/>
            <a:ext cx="11374920" cy="595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Математично нейрон являє собою ваговий суматор, єдиний вихід якого визначається через його входи і матрицю ваг таким чином:</a:t>
            </a:r>
            <a:endParaRPr lang="uk-UA" sz="1800" b="0" strike="noStrike" spc="-1">
              <a:latin typeface="Arial"/>
            </a:endParaRPr>
          </a:p>
        </p:txBody>
      </p:sp>
      <p:pic>
        <p:nvPicPr>
          <p:cNvPr id="131" name="Рисунок 130"/>
          <p:cNvPicPr/>
          <p:nvPr/>
        </p:nvPicPr>
        <p:blipFill>
          <a:blip r:embed="rId2"/>
          <a:stretch/>
        </p:blipFill>
        <p:spPr>
          <a:xfrm>
            <a:off x="3093480" y="2448000"/>
            <a:ext cx="5113440" cy="500040"/>
          </a:xfrm>
          <a:prstGeom prst="rect">
            <a:avLst/>
          </a:prstGeom>
          <a:ln>
            <a:noFill/>
          </a:ln>
        </p:spPr>
      </p:pic>
      <p:sp>
        <p:nvSpPr>
          <p:cNvPr id="132" name="CustomShape 3"/>
          <p:cNvSpPr/>
          <p:nvPr/>
        </p:nvSpPr>
        <p:spPr>
          <a:xfrm>
            <a:off x="360000" y="2936520"/>
            <a:ext cx="11374920" cy="95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Тут x і w - відповідно сигнали на входах нейрона і ваги входів, функція u називається індукованим локальним полем, а f(u) - передавальною функцією. Можливі значення сигналів на входах нейрона вважають заданими в інтервалі [0,1].</a:t>
            </a:r>
            <a:endParaRPr lang="uk-UA" sz="1800" b="0" strike="noStrike" spc="-1">
              <a:latin typeface="Arial"/>
            </a:endParaRPr>
          </a:p>
        </p:txBody>
      </p:sp>
      <p:sp>
        <p:nvSpPr>
          <p:cNvPr id="133" name="CustomShape 4"/>
          <p:cNvSpPr/>
          <p:nvPr/>
        </p:nvSpPr>
        <p:spPr>
          <a:xfrm>
            <a:off x="360000" y="4104000"/>
            <a:ext cx="11158920" cy="157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Вони можуть бути або дискретними (0 або 1), або аналоговими. Додатковий вхід Xo і відповідна йому вага використовується для ініціалізації нейрона. Під ініціалізацією мається на увазі зсув активаційної функції нейрона по горизонтальній осі, тобто формування порогу чутливості нейрона. Крім того, іноді до виходу нейрона спеціально додають якусь випадкову величину, яка називається зсувом. Зсув можна розглядати як сигнал на додатковому, завжди навантаженому, синапсі.</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ustomShape 1"/>
          <p:cNvSpPr/>
          <p:nvPr/>
        </p:nvSpPr>
        <p:spPr>
          <a:xfrm>
            <a:off x="432000" y="1224000"/>
            <a:ext cx="1137492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100000"/>
              </a:lnSpc>
              <a:spcBef>
                <a:spcPts val="1001"/>
              </a:spcBef>
            </a:pPr>
            <a:r>
              <a:rPr lang="uk-UA" sz="2200" b="0" strike="noStrike" spc="-1">
                <a:solidFill>
                  <a:srgbClr val="404040"/>
                </a:solidFill>
                <a:latin typeface="Trebuchet MS"/>
                <a:ea typeface="DejaVu Sans"/>
              </a:rPr>
              <a:t>Перцептро́н - математична або комп'ютерна модель сприйняття інформації мозком запропонована Френком Розенблатом й реалізована у вигляді електронної машини «Марк-1»  </a:t>
            </a:r>
            <a:endParaRPr lang="uk-UA" sz="2200" b="0" strike="noStrike" spc="-1">
              <a:latin typeface="Arial"/>
            </a:endParaRPr>
          </a:p>
          <a:p>
            <a:pPr>
              <a:lnSpc>
                <a:spcPct val="100000"/>
              </a:lnSpc>
              <a:spcBef>
                <a:spcPts val="1001"/>
              </a:spcBef>
            </a:pPr>
            <a:r>
              <a:rPr lang="uk-UA" sz="2200" b="0" strike="noStrike" spc="-1">
                <a:solidFill>
                  <a:srgbClr val="404040"/>
                </a:solidFill>
                <a:latin typeface="Trebuchet MS"/>
                <a:ea typeface="DejaVu Sans"/>
              </a:rPr>
              <a:t>Перцептрон став однією з перших моделей нейромереж, а </a:t>
            </a:r>
            <a:endParaRPr lang="uk-UA" sz="2200" b="0" strike="noStrike" spc="-1">
              <a:latin typeface="Arial"/>
            </a:endParaRPr>
          </a:p>
          <a:p>
            <a:pPr>
              <a:lnSpc>
                <a:spcPct val="100000"/>
              </a:lnSpc>
              <a:spcBef>
                <a:spcPts val="1001"/>
              </a:spcBef>
            </a:pPr>
            <a:r>
              <a:rPr lang="uk-UA" sz="2200" b="0" strike="noStrike" spc="-1">
                <a:solidFill>
                  <a:srgbClr val="404040"/>
                </a:solidFill>
                <a:latin typeface="Trebuchet MS"/>
                <a:ea typeface="DejaVu Sans"/>
              </a:rPr>
              <a:t>«Марк-1» — першим у світі нейрокомп'ютером.</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35"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pic>
        <p:nvPicPr>
          <p:cNvPr id="136" name="Рисунок 135"/>
          <p:cNvPicPr/>
          <p:nvPr/>
        </p:nvPicPr>
        <p:blipFill>
          <a:blip r:embed="rId2"/>
          <a:stretch/>
        </p:blipFill>
        <p:spPr>
          <a:xfrm>
            <a:off x="4619880" y="4392000"/>
            <a:ext cx="4883040" cy="2178000"/>
          </a:xfrm>
          <a:prstGeom prst="rect">
            <a:avLst/>
          </a:prstGeom>
          <a:ln>
            <a:noFill/>
          </a:ln>
        </p:spPr>
      </p:pic>
      <p:sp>
        <p:nvSpPr>
          <p:cNvPr id="137" name="CustomShape 3"/>
          <p:cNvSpPr/>
          <p:nvPr/>
        </p:nvSpPr>
        <p:spPr>
          <a:xfrm>
            <a:off x="432000" y="3312000"/>
            <a:ext cx="1130292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r>
              <a:rPr lang="uk-UA" sz="2200" b="0" strike="noStrike" spc="-1">
                <a:solidFill>
                  <a:srgbClr val="404040"/>
                </a:solidFill>
                <a:latin typeface="Trebuchet MS"/>
                <a:ea typeface="DejaVu Sans"/>
              </a:rPr>
              <a:t> Незважаючи на свою простоту, перцептрон здатен навчатися і розв'язувати досить складні завдання. Основна математична задача, з якою він здатний впоратися — це лінійне розділення довільних нелінійних множин, так зване забезпечення лінійної сепарабельності.</a:t>
            </a:r>
            <a:endParaRPr lang="uk-UA" sz="2200" b="0" strike="noStrike" spc="-1">
              <a:latin typeface="Arial"/>
            </a:endParaRPr>
          </a:p>
          <a:p>
            <a:pPr>
              <a:lnSpc>
                <a:spcPct val="100000"/>
              </a:lnSpc>
              <a:spcBef>
                <a:spcPts val="1001"/>
              </a:spcBef>
            </a:pPr>
            <a:endParaRPr lang="uk-UA" sz="22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432000" y="1277640"/>
            <a:ext cx="6838920" cy="282528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a:lnSpc>
                <a:spcPct val="100000"/>
              </a:lnSpc>
              <a:spcBef>
                <a:spcPts val="1001"/>
              </a:spcBef>
            </a:pPr>
            <a:r>
              <a:rPr lang="uk-UA" sz="2200" b="0" strike="noStrike" spc="-1">
                <a:solidFill>
                  <a:srgbClr val="404040"/>
                </a:solidFill>
                <a:latin typeface="Trebuchet MS"/>
                <a:ea typeface="DejaVu Sans"/>
              </a:rPr>
              <a:t>Перцептрон складається з трьох типів елементів, а саме: </a:t>
            </a:r>
            <a:endParaRPr lang="uk-UA" sz="2200" b="0" strike="noStrike" spc="-1">
              <a:latin typeface="Arial"/>
            </a:endParaRPr>
          </a:p>
          <a:p>
            <a:pPr>
              <a:lnSpc>
                <a:spcPct val="100000"/>
              </a:lnSpc>
              <a:spcBef>
                <a:spcPts val="1001"/>
              </a:spcBef>
            </a:pPr>
            <a:r>
              <a:rPr lang="uk-UA" sz="2200" b="0" strike="noStrike" spc="-1">
                <a:solidFill>
                  <a:srgbClr val="404040"/>
                </a:solidFill>
                <a:latin typeface="Trebuchet MS"/>
                <a:ea typeface="DejaVu Sans"/>
              </a:rPr>
              <a:t>сигнали, що надходять від давачів, передаються до асоціативних елементів, а відтак до реагуючих. Таким чином, перцептрони дозволяють створити набір «асоціацій» між вхідними стимулами та необхідною реакцією на виході.</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39"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pic>
        <p:nvPicPr>
          <p:cNvPr id="140" name="Рисунок 139"/>
          <p:cNvPicPr/>
          <p:nvPr/>
        </p:nvPicPr>
        <p:blipFill>
          <a:blip r:embed="rId2"/>
          <a:stretch/>
        </p:blipFill>
        <p:spPr>
          <a:xfrm>
            <a:off x="7223040" y="1945080"/>
            <a:ext cx="4656960" cy="4174920"/>
          </a:xfrm>
          <a:prstGeom prst="rect">
            <a:avLst/>
          </a:prstGeom>
          <a:ln>
            <a:noFill/>
          </a:ln>
        </p:spPr>
      </p:pic>
      <p:sp>
        <p:nvSpPr>
          <p:cNvPr id="141" name="CustomShape 3"/>
          <p:cNvSpPr/>
          <p:nvPr/>
        </p:nvSpPr>
        <p:spPr>
          <a:xfrm>
            <a:off x="360000" y="3888000"/>
            <a:ext cx="6694920" cy="2446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В біологічному плані це відповідає перетворенню, наприклад, зорової інформації у фізіологічну відповідь рухових нейронів. </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43" name="CustomShape 2"/>
          <p:cNvSpPr/>
          <p:nvPr/>
        </p:nvSpPr>
        <p:spPr>
          <a:xfrm>
            <a:off x="2588040" y="1224000"/>
            <a:ext cx="381888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Опис елементарного перцептрона</a:t>
            </a:r>
            <a:endParaRPr lang="uk-UA" sz="1800" b="0" strike="noStrike" spc="-1">
              <a:latin typeface="Arial"/>
            </a:endParaRPr>
          </a:p>
        </p:txBody>
      </p:sp>
      <p:pic>
        <p:nvPicPr>
          <p:cNvPr id="144" name="Рисунок 143"/>
          <p:cNvPicPr/>
          <p:nvPr/>
        </p:nvPicPr>
        <p:blipFill>
          <a:blip r:embed="rId2"/>
          <a:stretch/>
        </p:blipFill>
        <p:spPr>
          <a:xfrm>
            <a:off x="7106760" y="3816000"/>
            <a:ext cx="4628160" cy="2662920"/>
          </a:xfrm>
          <a:prstGeom prst="rect">
            <a:avLst/>
          </a:prstGeom>
          <a:ln>
            <a:noFill/>
          </a:ln>
        </p:spPr>
      </p:pic>
      <p:sp>
        <p:nvSpPr>
          <p:cNvPr id="145" name="CustomShape 3"/>
          <p:cNvSpPr/>
          <p:nvPr/>
        </p:nvSpPr>
        <p:spPr>
          <a:xfrm>
            <a:off x="569880" y="1561320"/>
            <a:ext cx="11237040" cy="597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S-елементи — це шар сенсорів, або рецепторів. У фізичному втіленні вони відповідають, наприклад, світлочутливим клітинам сітківки ока або фоторезисторам матриці камери.</a:t>
            </a:r>
            <a:endParaRPr lang="uk-UA" sz="1800" b="0" strike="noStrike" spc="-1">
              <a:latin typeface="Arial"/>
            </a:endParaRPr>
          </a:p>
        </p:txBody>
      </p:sp>
      <p:sp>
        <p:nvSpPr>
          <p:cNvPr id="146" name="CustomShape 4"/>
          <p:cNvSpPr/>
          <p:nvPr/>
        </p:nvSpPr>
        <p:spPr>
          <a:xfrm>
            <a:off x="526680" y="2160000"/>
            <a:ext cx="11064240" cy="93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A-елементи називаються асоціативними, тому що кожному такому елементові, як правило, відповідає цілий набір (асоціація) S-елементів. A-елемент активізується, щойно кількість сигналів від S-елементів на його вході перевищує певну величину </a:t>
            </a:r>
            <a:endParaRPr lang="uk-UA" sz="1800" b="0" strike="noStrike" spc="-1">
              <a:latin typeface="Arial"/>
            </a:endParaRPr>
          </a:p>
        </p:txBody>
      </p:sp>
      <p:sp>
        <p:nvSpPr>
          <p:cNvPr id="147" name="CustomShape 5"/>
          <p:cNvSpPr/>
          <p:nvPr/>
        </p:nvSpPr>
        <p:spPr>
          <a:xfrm>
            <a:off x="554760" y="3001320"/>
            <a:ext cx="11180160" cy="885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Сигнали від збуджених A-елементів, своєю чергою, передаються до суматора R, причому сигнал від i-го асоціативного елемента передається з коефіцієнтом w. Цей коефіцієнт називається вагою A-R зв'язку.</a:t>
            </a:r>
            <a:endParaRPr lang="uk-UA" sz="1800" b="0" strike="noStrike" spc="-1">
              <a:latin typeface="Arial"/>
            </a:endParaRPr>
          </a:p>
        </p:txBody>
      </p:sp>
      <p:sp>
        <p:nvSpPr>
          <p:cNvPr id="148" name="CustomShape 6"/>
          <p:cNvSpPr/>
          <p:nvPr/>
        </p:nvSpPr>
        <p:spPr>
          <a:xfrm>
            <a:off x="511560" y="3863160"/>
            <a:ext cx="6687360" cy="1607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Так само як і A-елементи, R-елемент підраховує суму значень вхідних сигналів, помножених на ваги (лінійну форму). R-елемент, а разом з ним і елементарний перцептрон, видає «1», якщо лінійна форма перевищує поріг θ, інакше на виході буде «-1». Математично, функцію, що реалізує R-елемент, можна записати так:</a:t>
            </a:r>
            <a:endParaRPr lang="uk-UA" sz="1800" b="0" strike="noStrike" spc="-1">
              <a:latin typeface="Arial"/>
            </a:endParaRPr>
          </a:p>
        </p:txBody>
      </p:sp>
      <p:pic>
        <p:nvPicPr>
          <p:cNvPr id="149" name="Рисунок 148"/>
          <p:cNvPicPr/>
          <p:nvPr/>
        </p:nvPicPr>
        <p:blipFill>
          <a:blip r:embed="rId3"/>
          <a:stretch/>
        </p:blipFill>
        <p:spPr>
          <a:xfrm>
            <a:off x="2319840" y="5616000"/>
            <a:ext cx="3511080" cy="95400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51"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sp>
        <p:nvSpPr>
          <p:cNvPr id="152" name="CustomShape 3"/>
          <p:cNvSpPr/>
          <p:nvPr/>
        </p:nvSpPr>
        <p:spPr>
          <a:xfrm>
            <a:off x="576000" y="1872000"/>
            <a:ext cx="11014920" cy="3742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Навчання елементарного перцептрона полягає у зміні вагових коефіцієнтів w зв'язків A-R. Ваги зв'язків S-A  і значення порогів A-елементів вибираються випадковим чином на самому початку і потім не змінюються.</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Після навчання перцептрон готовий працювати в режимі розпізнавання або узагальнення. У цьому режимі перцептрону пред'являються раніше невідомі йому об'єкти, й він повинен встановити, до якого класу вони належать. Робота перцептрона полягає в наступному: при пред'явленні об'єкта, збуджені A-елементи передають сигнал R-елементу, що дорівнює сумі відповідних коефіцієнтів w. </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Якщо ця сума позитивна, то ухвалюється рішення, що даний об'єкт належить до першого класу, а якщо вона негативна — то до другого.</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576000" y="1240200"/>
            <a:ext cx="327492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Класифікація перцептронів</a:t>
            </a:r>
            <a:endParaRPr lang="uk-UA" sz="1800" b="0" strike="noStrike" spc="-1">
              <a:latin typeface="Arial"/>
            </a:endParaRPr>
          </a:p>
        </p:txBody>
      </p:sp>
      <p:sp>
        <p:nvSpPr>
          <p:cNvPr id="154" name="CustomShape 2"/>
          <p:cNvSpPr/>
          <p:nvPr/>
        </p:nvSpPr>
        <p:spPr>
          <a:xfrm>
            <a:off x="576000" y="1600200"/>
            <a:ext cx="655092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Перцептрон з одним прихованим шаром  </a:t>
            </a:r>
            <a:endParaRPr lang="uk-UA" sz="1800" b="0" strike="noStrike" spc="-1">
              <a:latin typeface="Arial"/>
            </a:endParaRPr>
          </a:p>
        </p:txBody>
      </p:sp>
      <p:sp>
        <p:nvSpPr>
          <p:cNvPr id="155" name="CustomShape 3"/>
          <p:cNvSpPr/>
          <p:nvPr/>
        </p:nvSpPr>
        <p:spPr>
          <a:xfrm>
            <a:off x="616680" y="1944000"/>
            <a:ext cx="29822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Одношаровий перцептрон</a:t>
            </a:r>
            <a:endParaRPr lang="uk-UA" sz="1800" b="0" strike="noStrike" spc="-1">
              <a:latin typeface="Arial"/>
            </a:endParaRPr>
          </a:p>
        </p:txBody>
      </p:sp>
      <p:sp>
        <p:nvSpPr>
          <p:cNvPr id="156" name="CustomShape 4"/>
          <p:cNvSpPr/>
          <p:nvPr/>
        </p:nvSpPr>
        <p:spPr>
          <a:xfrm>
            <a:off x="576000" y="2320200"/>
            <a:ext cx="45230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Багатошаровий перцептрон Розенблатта</a:t>
            </a:r>
            <a:endParaRPr lang="uk-UA" sz="1800" b="0" strike="noStrike" spc="-1">
              <a:latin typeface="Arial"/>
            </a:endParaRPr>
          </a:p>
        </p:txBody>
      </p:sp>
      <p:sp>
        <p:nvSpPr>
          <p:cNvPr id="157" name="CustomShape 5"/>
          <p:cNvSpPr/>
          <p:nvPr/>
        </p:nvSpPr>
        <p:spPr>
          <a:xfrm>
            <a:off x="539280" y="2736000"/>
            <a:ext cx="45716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Багатошаровий перцептрон Румельхарта</a:t>
            </a:r>
            <a:endParaRPr lang="uk-UA" sz="1800" b="0" strike="noStrike" spc="-1">
              <a:latin typeface="Arial"/>
            </a:endParaRPr>
          </a:p>
        </p:txBody>
      </p:sp>
      <p:sp>
        <p:nvSpPr>
          <p:cNvPr id="158" name="CustomShape 6"/>
          <p:cNvSpPr/>
          <p:nvPr/>
        </p:nvSpPr>
        <p:spPr>
          <a:xfrm>
            <a:off x="648000" y="3312000"/>
            <a:ext cx="10510920" cy="84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Перцептрон з одним прихованим шаром </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Це класичний перцептрон, у нього є по одному шару S-, A- та R-елементів. </a:t>
            </a:r>
            <a:endParaRPr lang="uk-UA" sz="1800" b="0" strike="noStrike" spc="-1">
              <a:latin typeface="Arial"/>
            </a:endParaRPr>
          </a:p>
        </p:txBody>
      </p:sp>
      <p:sp>
        <p:nvSpPr>
          <p:cNvPr id="159" name="CustomShape 7"/>
          <p:cNvSpPr/>
          <p:nvPr/>
        </p:nvSpPr>
        <p:spPr>
          <a:xfrm>
            <a:off x="720000" y="4336200"/>
            <a:ext cx="29822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Одношаровий перцептрон</a:t>
            </a:r>
            <a:endParaRPr lang="uk-UA" sz="1800" b="0" strike="noStrike" spc="-1">
              <a:latin typeface="Arial"/>
            </a:endParaRPr>
          </a:p>
        </p:txBody>
      </p:sp>
      <p:sp>
        <p:nvSpPr>
          <p:cNvPr id="160" name="CustomShape 8"/>
          <p:cNvSpPr/>
          <p:nvPr/>
        </p:nvSpPr>
        <p:spPr>
          <a:xfrm>
            <a:off x="576000" y="4824000"/>
            <a:ext cx="11014920" cy="1426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Це модель, у якій вхідні елементи безпосередньо з'єднано з вихідними за допомогою системи ваг. Є найпростішою мережею прямого поширення — лінійним класифікатором, і окремим випадком класичного перцептрона, в якому кожен S-елемент однозначно відповідає одному A-елементові, S-A зв'язку мають вагу +1, і всі A-елементи мають поріг θ = 1. Одношарові перцептрони фактично є формальними нейронами</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62"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sp>
        <p:nvSpPr>
          <p:cNvPr id="163" name="CustomShape 3"/>
          <p:cNvSpPr/>
          <p:nvPr/>
        </p:nvSpPr>
        <p:spPr>
          <a:xfrm>
            <a:off x="3888000" y="1528200"/>
            <a:ext cx="45230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Багатошаровий перцептрон Розенблатта</a:t>
            </a:r>
            <a:endParaRPr lang="uk-UA" sz="1800" b="0" strike="noStrike" spc="-1">
              <a:latin typeface="Arial"/>
            </a:endParaRPr>
          </a:p>
        </p:txBody>
      </p:sp>
      <p:sp>
        <p:nvSpPr>
          <p:cNvPr id="164" name="CustomShape 4"/>
          <p:cNvSpPr/>
          <p:nvPr/>
        </p:nvSpPr>
        <p:spPr>
          <a:xfrm>
            <a:off x="721440" y="2562840"/>
            <a:ext cx="10365480" cy="2620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перцептрон з додатковими шарами А — елементів, розташованими між S і R елементами. Перцептрон Розенблатта відрізняється від багатошарового перцептрону Румельхарта, і є загальнішим випадком по відношенню до нього. Оскільки елементарний перцептрон вже володів двома шарами зв'язків та трьома шарами елементів (нейронів), то такий перцептрон не вважався багатошаровим, і багатошаровість малася на увазі тільки при наявності мінімум чотирьох шарів елементів. У багатошаровому перцептроні Розенблатта не обов'язково всі зв'язки можна навчати, частина з них може бути випадково обрана і зафіксована. Румельхард ж припускав, що всі зв'язки багатошарового перцептрона повинні мати здатність навчатися. Тому повним еквівалентом багатошарового перцептрону Румельхарта, у Розенблатта є перцептрон зі змінними SA зв'язками.</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CustomShape 1"/>
          <p:cNvSpPr/>
          <p:nvPr/>
        </p:nvSpPr>
        <p:spPr>
          <a:xfrm>
            <a:off x="3923280" y="1888200"/>
            <a:ext cx="45716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Багатошаровий перцептрон Румельхарта</a:t>
            </a:r>
            <a:endParaRPr lang="uk-UA" sz="1800" b="0" strike="noStrike" spc="-1">
              <a:latin typeface="Arial"/>
            </a:endParaRPr>
          </a:p>
        </p:txBody>
      </p:sp>
      <p:sp>
        <p:nvSpPr>
          <p:cNvPr id="166" name="CustomShape 2"/>
          <p:cNvSpPr/>
          <p:nvPr/>
        </p:nvSpPr>
        <p:spPr>
          <a:xfrm>
            <a:off x="504000" y="2520000"/>
            <a:ext cx="10584720" cy="2620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окремий випадок перцептрона Розенблатта, в якому один алгоритм зворотного поширення помилки навчає всі шари. На жаль, назва з історичних причин не відображає особливості даного виду перцептрона, тобто не пов'язана з тим, що в ньому кілька шарів . Особливістю є наявність більш ніж одного учня шару. Необхідність у великій кількості шарів-учнів відпадає, оскільки теоретично єдиного прихованого шару достатньо, щоб перекодувати вхідний сигнал таким чином, щоб отримати лінійну карту для вихідного сигналу. Але є припущення, що, використовуючи більше число шарів, можна зменшити число елементів у них, тобто сумарне число елементів у шарах буде менше, ніж при використанні одного прихованого шару.</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68" name="CustomShape 2"/>
          <p:cNvSpPr/>
          <p:nvPr/>
        </p:nvSpPr>
        <p:spPr>
          <a:xfrm>
            <a:off x="1512000" y="1440000"/>
            <a:ext cx="774180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Відмінності багатошарового перцептрона від перцептрону Розенблатта</a:t>
            </a:r>
            <a:endParaRPr lang="uk-UA" sz="1800" b="0" strike="noStrike" spc="-1">
              <a:latin typeface="Arial"/>
            </a:endParaRPr>
          </a:p>
        </p:txBody>
      </p:sp>
      <p:sp>
        <p:nvSpPr>
          <p:cNvPr id="169" name="CustomShape 3"/>
          <p:cNvSpPr/>
          <p:nvPr/>
        </p:nvSpPr>
        <p:spPr>
          <a:xfrm>
            <a:off x="677160" y="1887120"/>
            <a:ext cx="11014920" cy="4391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Використання нелінійної функції активації, як правило сигмоїдної.</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Число шарів, які навчають, більше одного. Найчастіше використовується не більше трьох.</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Сигнали, що надходять на вхід, та одержувані з виходу не бінарні, а можуть кодуватися десятковими числами, які потрібно нормалізувати, так щоб значення були на відрізку була від 0 до 1 (нормалізація необхідна як мінімум для вихідних даних, згідно з функцією активації — сигмоїдою).</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Допускається довільна архітектура зв'язків (у тому числі, і повнозв'язані мережі).</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Помилка мережі обчислюється не як число неправильних образів після ітерації навчання, а як деяка статистична міра нев'язаності між потрібним і одержаним значенням.</a:t>
            </a:r>
            <a:endParaRPr lang="uk-UA" sz="1800" b="0" strike="noStrike" spc="-1">
              <a:latin typeface="Arial"/>
            </a:endParaRPr>
          </a:p>
          <a:p>
            <a:endParaRPr lang="uk-UA" sz="1800" b="0" strike="noStrike" spc="-1">
              <a:latin typeface="Arial"/>
            </a:endParaRPr>
          </a:p>
          <a:p>
            <a:r>
              <a:rPr lang="uk-UA" sz="1800" b="0" strike="noStrike" spc="-1">
                <a:solidFill>
                  <a:srgbClr val="000000"/>
                </a:solidFill>
                <a:latin typeface="Arial"/>
                <a:ea typeface="DejaVu Sans"/>
              </a:rPr>
              <a:t>Навчання проводиться не до відсутності помилок після навчання, а до стабілізації вагових коефіцієнтів при навчанні або переривається раніше, щоб уникнути перенавчання.</a:t>
            </a:r>
            <a:endParaRPr lang="uk-UA" sz="1800" b="0" strike="noStrike" spc="-1">
              <a:latin typeface="Arial"/>
            </a:endParaRPr>
          </a:p>
          <a:p>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71"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sp>
        <p:nvSpPr>
          <p:cNvPr id="172" name="CustomShape 3"/>
          <p:cNvSpPr/>
          <p:nvPr/>
        </p:nvSpPr>
        <p:spPr>
          <a:xfrm>
            <a:off x="386280" y="1522080"/>
            <a:ext cx="11636640" cy="186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Багатошаровий перцептрон буде володіти функціональними перевагами в порівнянні з перцептроном Розенблатта лише в тому випадку, якщо у відповідь на стимули не просто буде виконана якась реакція (оскільки вже в перцептроні може бути отримана реакція кожного типу), а виразиться у підвищенні ефективності вироблення таких реакцій. Наприклад, покращиться здатність до узагальнення, тобто до правильних реакцій на стимули, яким перцептрон не навчався. Але зараз таких узагальнюючих теорем немає, існує лише маса досліджень різних стандартизованих тестів, на яких порівнюються різні архітектури.</a:t>
            </a:r>
            <a:endParaRPr lang="uk-UA" sz="1800" b="0" strike="noStrike" spc="-1">
              <a:latin typeface="Arial"/>
            </a:endParaRPr>
          </a:p>
        </p:txBody>
      </p:sp>
      <p:pic>
        <p:nvPicPr>
          <p:cNvPr id="173" name="Рисунок 172"/>
          <p:cNvPicPr/>
          <p:nvPr/>
        </p:nvPicPr>
        <p:blipFill>
          <a:blip r:embed="rId2"/>
          <a:stretch/>
        </p:blipFill>
        <p:spPr>
          <a:xfrm>
            <a:off x="2736000" y="3182400"/>
            <a:ext cx="6983280" cy="336852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75" name="CustomShape 2"/>
          <p:cNvSpPr/>
          <p:nvPr/>
        </p:nvSpPr>
        <p:spPr>
          <a:xfrm>
            <a:off x="4401720" y="1296000"/>
            <a:ext cx="236520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Алгоритми навчання</a:t>
            </a:r>
            <a:endParaRPr lang="uk-UA" sz="1800" b="0" strike="noStrike" spc="-1">
              <a:latin typeface="Arial"/>
            </a:endParaRPr>
          </a:p>
        </p:txBody>
      </p:sp>
      <p:sp>
        <p:nvSpPr>
          <p:cNvPr id="176" name="CustomShape 3"/>
          <p:cNvSpPr/>
          <p:nvPr/>
        </p:nvSpPr>
        <p:spPr>
          <a:xfrm>
            <a:off x="576000" y="1742040"/>
            <a:ext cx="11188800" cy="84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Важливою властивістю будь-якої нейронної мережі є здатність до навчання. Процес навчання є процедурою налаштування ваг та порогів з метою зменшення різниці між бажаними (цільовими) та отримуваними векторами на виході.</a:t>
            </a:r>
            <a:endParaRPr lang="uk-UA" sz="1800" b="0" strike="noStrike" spc="-1">
              <a:latin typeface="Arial"/>
            </a:endParaRPr>
          </a:p>
        </p:txBody>
      </p:sp>
      <p:sp>
        <p:nvSpPr>
          <p:cNvPr id="177" name="CustomShape 4"/>
          <p:cNvSpPr/>
          <p:nvPr/>
        </p:nvSpPr>
        <p:spPr>
          <a:xfrm>
            <a:off x="576000" y="2664000"/>
            <a:ext cx="10953360" cy="595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Система підкріплення — це будь-який набір правил, на підставі яких можна змінювати з плином часу матрицю взаємодії (або стан пам'яті) перцептрону.</a:t>
            </a:r>
            <a:endParaRPr lang="uk-UA" sz="1800" b="0" strike="noStrike" spc="-1">
              <a:latin typeface="Arial"/>
            </a:endParaRPr>
          </a:p>
        </p:txBody>
      </p:sp>
      <p:sp>
        <p:nvSpPr>
          <p:cNvPr id="178" name="CustomShape 5"/>
          <p:cNvSpPr/>
          <p:nvPr/>
        </p:nvSpPr>
        <p:spPr>
          <a:xfrm>
            <a:off x="878040" y="3456000"/>
            <a:ext cx="408888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 Навчання з учителем</a:t>
            </a:r>
            <a:endParaRPr lang="uk-UA" sz="1800" b="0" strike="noStrike" spc="-1">
              <a:latin typeface="Arial"/>
            </a:endParaRPr>
          </a:p>
        </p:txBody>
      </p:sp>
      <p:sp>
        <p:nvSpPr>
          <p:cNvPr id="179" name="CustomShape 6"/>
          <p:cNvSpPr/>
          <p:nvPr/>
        </p:nvSpPr>
        <p:spPr>
          <a:xfrm>
            <a:off x="936000" y="3960000"/>
            <a:ext cx="2734920" cy="595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Навчання без учителя</a:t>
            </a:r>
            <a:endParaRPr lang="uk-UA" sz="1800" b="0" strike="noStrike" spc="-1">
              <a:latin typeface="Arial"/>
            </a:endParaRPr>
          </a:p>
        </p:txBody>
      </p:sp>
      <p:sp>
        <p:nvSpPr>
          <p:cNvPr id="180" name="CustomShape 7"/>
          <p:cNvSpPr/>
          <p:nvPr/>
        </p:nvSpPr>
        <p:spPr>
          <a:xfrm>
            <a:off x="917280" y="4464000"/>
            <a:ext cx="4507560" cy="67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 Метод зворотного поширення помилки</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82" name="CustomShape 2"/>
          <p:cNvSpPr/>
          <p:nvPr/>
        </p:nvSpPr>
        <p:spPr>
          <a:xfrm>
            <a:off x="576000" y="1384200"/>
            <a:ext cx="243684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Навчання з учителем</a:t>
            </a:r>
            <a:endParaRPr lang="uk-UA" sz="1800" b="0" strike="noStrike" spc="-1">
              <a:latin typeface="Arial"/>
            </a:endParaRPr>
          </a:p>
        </p:txBody>
      </p:sp>
      <p:sp>
        <p:nvSpPr>
          <p:cNvPr id="183" name="CustomShape 3"/>
          <p:cNvSpPr/>
          <p:nvPr/>
        </p:nvSpPr>
        <p:spPr>
          <a:xfrm>
            <a:off x="570600" y="1744200"/>
            <a:ext cx="10444320" cy="1134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Класичний метод навчання перцептрону — це метод корекції помилки. Він являє собою такий вид навчання з учителем, при якому вага зв'язку не змінюється до тих пір, поки поточна реакція перцептрона залишається правильною. При появі неправильної реакції вага змінюється на одиницю, а знак (+/-) визначається протилежним від знаку помилки.</a:t>
            </a:r>
            <a:endParaRPr lang="uk-UA" sz="1800" b="0" strike="noStrike" spc="-1">
              <a:latin typeface="Arial"/>
            </a:endParaRPr>
          </a:p>
        </p:txBody>
      </p:sp>
      <p:sp>
        <p:nvSpPr>
          <p:cNvPr id="184" name="CustomShape 4"/>
          <p:cNvSpPr/>
          <p:nvPr/>
        </p:nvSpPr>
        <p:spPr>
          <a:xfrm>
            <a:off x="570600" y="2822040"/>
            <a:ext cx="10947960" cy="84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Припустимо, ми хочемо навчити перцептрон розділяти два класи об'єктів так, щоби при пред'явленні об'єктів першого класу вихід перцептрона був позитивний (+1), а при пред'явленні об'єктів другого класу — негативним (-1). Для цього виконаємо наступний алгоритм:</a:t>
            </a:r>
            <a:endParaRPr lang="uk-UA" sz="1800" b="0" strike="noStrike" spc="-1">
              <a:latin typeface="Arial"/>
            </a:endParaRPr>
          </a:p>
        </p:txBody>
      </p:sp>
      <p:sp>
        <p:nvSpPr>
          <p:cNvPr id="185" name="CustomShape 5"/>
          <p:cNvSpPr/>
          <p:nvPr/>
        </p:nvSpPr>
        <p:spPr>
          <a:xfrm>
            <a:off x="576000" y="3672000"/>
            <a:ext cx="8695080" cy="358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1.Випадково вибираємо пороги для A-елементів та встановлюємо зв'язки S-A .</a:t>
            </a:r>
            <a:endParaRPr lang="uk-UA" sz="1800" b="0" strike="noStrike" spc="-1">
              <a:latin typeface="Arial"/>
            </a:endParaRPr>
          </a:p>
        </p:txBody>
      </p:sp>
      <p:sp>
        <p:nvSpPr>
          <p:cNvPr id="186" name="CustomShape 6"/>
          <p:cNvSpPr/>
          <p:nvPr/>
        </p:nvSpPr>
        <p:spPr>
          <a:xfrm>
            <a:off x="564120" y="3976200"/>
            <a:ext cx="937080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2.Початкові коефіцієнти w вважаємо рівними нулеві.</a:t>
            </a:r>
            <a:endParaRPr lang="uk-UA" sz="1800" b="0" strike="noStrike" spc="-1">
              <a:latin typeface="Arial"/>
            </a:endParaRPr>
          </a:p>
        </p:txBody>
      </p:sp>
      <p:sp>
        <p:nvSpPr>
          <p:cNvPr id="187" name="CustomShape 7"/>
          <p:cNvSpPr/>
          <p:nvPr/>
        </p:nvSpPr>
        <p:spPr>
          <a:xfrm>
            <a:off x="564120" y="4248000"/>
            <a:ext cx="10833840" cy="1608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3. Пред'являємо навчальну вибірку: об'єкти (наприклад, кола або квадрати) із зазначенням класу, до якого вони належать.</a:t>
            </a:r>
            <a:endParaRPr lang="uk-UA" sz="1800" b="0" strike="noStrike" spc="-1">
              <a:latin typeface="Arial"/>
            </a:endParaRPr>
          </a:p>
          <a:p>
            <a:r>
              <a:rPr lang="uk-UA" sz="1800" b="0" strike="noStrike" spc="-1">
                <a:solidFill>
                  <a:srgbClr val="000000"/>
                </a:solidFill>
                <a:latin typeface="Arial"/>
                <a:ea typeface="DejaVu Sans"/>
              </a:rPr>
              <a:t>Показуємо перцептронові об'єкт першого класу. При цьому деякі A-елементи збудяться. Коефіцієнти w, що відповідають цим збудженням елементів, збільшуємо на 1.</a:t>
            </a:r>
            <a:endParaRPr lang="uk-UA" sz="1800" b="0" strike="noStrike" spc="-1">
              <a:latin typeface="Arial"/>
            </a:endParaRPr>
          </a:p>
          <a:p>
            <a:r>
              <a:rPr lang="uk-UA" sz="1800" b="0" strike="noStrike" spc="-1">
                <a:solidFill>
                  <a:srgbClr val="000000"/>
                </a:solidFill>
                <a:latin typeface="Arial"/>
                <a:ea typeface="DejaVu Sans"/>
              </a:rPr>
              <a:t>Пред'являємо об'єкт другого класу, і коефіцієнти w тих А-елементів, які збудилися при цьому показі, зменшуємо на 1.</a:t>
            </a:r>
            <a:endParaRPr lang="uk-UA" sz="1800" b="0" strike="noStrike" spc="-1">
              <a:latin typeface="Arial"/>
            </a:endParaRPr>
          </a:p>
        </p:txBody>
      </p:sp>
      <p:sp>
        <p:nvSpPr>
          <p:cNvPr id="188" name="CustomShape 8"/>
          <p:cNvSpPr/>
          <p:nvPr/>
        </p:nvSpPr>
        <p:spPr>
          <a:xfrm>
            <a:off x="564120" y="5857200"/>
            <a:ext cx="10673640" cy="595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4. Обидві частини кроку 3 виконаємо для всієї навчальної вибірки. В результаті навчання сформуються значення вагів зв'язків w.</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90"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sp>
        <p:nvSpPr>
          <p:cNvPr id="191" name="CustomShape 3"/>
          <p:cNvSpPr/>
          <p:nvPr/>
        </p:nvSpPr>
        <p:spPr>
          <a:xfrm>
            <a:off x="4312440" y="1456200"/>
            <a:ext cx="252648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Навчання без учителя</a:t>
            </a:r>
            <a:endParaRPr lang="uk-UA" sz="1800" b="0" strike="noStrike" spc="-1">
              <a:latin typeface="Arial"/>
            </a:endParaRPr>
          </a:p>
        </p:txBody>
      </p:sp>
      <p:sp>
        <p:nvSpPr>
          <p:cNvPr id="192" name="CustomShape 4"/>
          <p:cNvSpPr/>
          <p:nvPr/>
        </p:nvSpPr>
        <p:spPr>
          <a:xfrm>
            <a:off x="428400" y="1851120"/>
            <a:ext cx="11306520" cy="595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Крім класичного методу навчання перцептрону, Розенблат також ввів поняття про навчання без учителя, запропонувавши наступний спосіб навчання:</a:t>
            </a:r>
            <a:endParaRPr lang="uk-UA" sz="1800" b="0" strike="noStrike" spc="-1">
              <a:latin typeface="Arial"/>
            </a:endParaRPr>
          </a:p>
        </p:txBody>
      </p:sp>
      <p:sp>
        <p:nvSpPr>
          <p:cNvPr id="193" name="CustomShape 5"/>
          <p:cNvSpPr/>
          <p:nvPr/>
        </p:nvSpPr>
        <p:spPr>
          <a:xfrm>
            <a:off x="432000" y="2520000"/>
            <a:ext cx="11217600" cy="84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Альфа-система підкріплення — це система підкріплення, за якої ваги всіх активних зв'язків C, що ведуть до елемента U, змінюються на однакову величину r, а ваги неактивних зв'язків за цей час не змінюються.</a:t>
            </a:r>
            <a:endParaRPr lang="uk-UA" sz="1800" b="0" strike="noStrike" spc="-1">
              <a:latin typeface="Arial"/>
            </a:endParaRPr>
          </a:p>
        </p:txBody>
      </p:sp>
      <p:sp>
        <p:nvSpPr>
          <p:cNvPr id="194" name="CustomShape 6"/>
          <p:cNvSpPr/>
          <p:nvPr/>
        </p:nvSpPr>
        <p:spPr>
          <a:xfrm>
            <a:off x="432000" y="3456000"/>
            <a:ext cx="11302920" cy="1101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Пізніше, з розробкою поняття багатошарового перцептрону, альфа-систему було модифіковано, і її стали називати дельта-правилом. Модифікацію було проведено з метою зробити функцію навчання диференційовною (наприклад, сигмоїдною), що в свою чергу потрібно для застосування методу градієнтного спуску, завдяки якому можливе навчання більше ніж одного шару.</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96" name="CustomShape 2"/>
          <p:cNvSpPr/>
          <p:nvPr/>
        </p:nvSpPr>
        <p:spPr>
          <a:xfrm>
            <a:off x="3195360" y="1456200"/>
            <a:ext cx="4291560" cy="342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Метод зворотного поширення помилки</a:t>
            </a:r>
            <a:endParaRPr lang="uk-UA" sz="1800" b="0" strike="noStrike" spc="-1">
              <a:latin typeface="Arial"/>
            </a:endParaRPr>
          </a:p>
        </p:txBody>
      </p:sp>
      <p:sp>
        <p:nvSpPr>
          <p:cNvPr id="197" name="CustomShape 3"/>
          <p:cNvSpPr/>
          <p:nvPr/>
        </p:nvSpPr>
        <p:spPr>
          <a:xfrm>
            <a:off x="536040" y="2160000"/>
            <a:ext cx="11198880" cy="223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Для навчання багатошарових мереж ряд учених, було запропоновано градієнтний алгоритм навчання з учителем, що проводить сигнал помилки, обчислений виходами перцептрона, до його входів, шар за шаром. Зараз це є найпопулярніший метод навчання багатошарових перцептронов. Його перевага в тому, що він може навчити всі шари нейронної мережі, і його легко прорахувати локально. Однак цей метод є дуже довгим, до того ж, для його застосування потрібно, щоб передавальна функція нейронів була диференційовною. При цьому в перцептронах довелося відмовитися від бінарного сигналу, і користуватися на вході неперервними значеннями.</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199"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sp>
        <p:nvSpPr>
          <p:cNvPr id="200" name="CustomShape 3"/>
          <p:cNvSpPr/>
          <p:nvPr/>
        </p:nvSpPr>
        <p:spPr>
          <a:xfrm>
            <a:off x="3816000" y="1296000"/>
            <a:ext cx="3113640" cy="343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Застосування перцептронів</a:t>
            </a:r>
            <a:endParaRPr lang="uk-UA" sz="1800" b="0" strike="noStrike" spc="-1">
              <a:latin typeface="Arial"/>
            </a:endParaRPr>
          </a:p>
        </p:txBody>
      </p:sp>
      <p:sp>
        <p:nvSpPr>
          <p:cNvPr id="201" name="CustomShape 4"/>
          <p:cNvSpPr/>
          <p:nvPr/>
        </p:nvSpPr>
        <p:spPr>
          <a:xfrm>
            <a:off x="576000" y="1883880"/>
            <a:ext cx="11069640" cy="13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Перцептрон може бути використано, наприклад, для апроксимації функцій, для задачі прогнозування (й еквівалентної їй задачі розпізнавання образів), що вимагає високої точності, та задачі керування агентами, що вимагає високої швидкості навчання.</a:t>
            </a:r>
            <a:endParaRPr lang="uk-UA" sz="1800" b="0" strike="noStrike" spc="-1">
              <a:latin typeface="Arial"/>
            </a:endParaRPr>
          </a:p>
          <a:p>
            <a:r>
              <a:rPr lang="uk-UA" sz="1800" b="0" strike="noStrike" spc="-1">
                <a:solidFill>
                  <a:srgbClr val="000000"/>
                </a:solidFill>
                <a:latin typeface="Arial"/>
                <a:ea typeface="DejaVu Sans"/>
              </a:rPr>
              <a:t>У практичних задачах від перцептрона вимагатиметься можливість вибору більш ніж з двох варіантів, а отже, на виході в нього має бути більше одного R-елемента. </a:t>
            </a:r>
            <a:endParaRPr lang="uk-UA" sz="1800" b="0" strike="noStrike" spc="-1">
              <a:latin typeface="Arial"/>
            </a:endParaRPr>
          </a:p>
        </p:txBody>
      </p:sp>
      <p:sp>
        <p:nvSpPr>
          <p:cNvPr id="202" name="CustomShape 5"/>
          <p:cNvSpPr/>
          <p:nvPr/>
        </p:nvSpPr>
        <p:spPr>
          <a:xfrm>
            <a:off x="1008000" y="3528000"/>
            <a:ext cx="2542320" cy="343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Апроксимація функцій</a:t>
            </a:r>
            <a:endParaRPr lang="uk-UA" sz="1800" b="0" strike="noStrike" spc="-1">
              <a:latin typeface="Arial"/>
            </a:endParaRPr>
          </a:p>
        </p:txBody>
      </p:sp>
      <p:sp>
        <p:nvSpPr>
          <p:cNvPr id="203" name="CustomShape 6"/>
          <p:cNvSpPr/>
          <p:nvPr/>
        </p:nvSpPr>
        <p:spPr>
          <a:xfrm>
            <a:off x="1008000" y="4104000"/>
            <a:ext cx="6140520" cy="343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Прогнозування та розпізнавання образів</a:t>
            </a:r>
            <a:endParaRPr lang="uk-UA" sz="1800" b="0" strike="noStrike" spc="-1">
              <a:latin typeface="Arial"/>
            </a:endParaRPr>
          </a:p>
        </p:txBody>
      </p:sp>
      <p:sp>
        <p:nvSpPr>
          <p:cNvPr id="204" name="CustomShape 7"/>
          <p:cNvSpPr/>
          <p:nvPr/>
        </p:nvSpPr>
        <p:spPr>
          <a:xfrm>
            <a:off x="1008000" y="4752000"/>
            <a:ext cx="2334960" cy="343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Керування агентами</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CustomShape 1"/>
          <p:cNvSpPr/>
          <p:nvPr/>
        </p:nvSpPr>
        <p:spPr>
          <a:xfrm>
            <a:off x="677160" y="268560"/>
            <a:ext cx="8859600" cy="1969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343080" indent="-341640">
              <a:lnSpc>
                <a:spcPct val="100000"/>
              </a:lnSpc>
              <a:spcBef>
                <a:spcPts val="1001"/>
              </a:spcBef>
              <a:buClr>
                <a:srgbClr val="90C226"/>
              </a:buClr>
              <a:buSzPct val="80000"/>
              <a:buFont typeface="Wingdings 3" charset="2"/>
              <a:buChar char=""/>
            </a:pPr>
            <a:r>
              <a:rPr lang="uk-UA" sz="2200" b="0" strike="noStrike" spc="-1">
                <a:solidFill>
                  <a:srgbClr val="404040"/>
                </a:solidFill>
                <a:latin typeface="Trebuchet MS"/>
                <a:ea typeface="DejaVu Sans"/>
              </a:rPr>
              <a:t> </a:t>
            </a:r>
            <a:endParaRPr lang="uk-UA" sz="2200" b="0" strike="noStrike" spc="-1">
              <a:latin typeface="Arial"/>
            </a:endParaRPr>
          </a:p>
          <a:p>
            <a:pPr>
              <a:lnSpc>
                <a:spcPct val="100000"/>
              </a:lnSpc>
              <a:spcBef>
                <a:spcPts val="1001"/>
              </a:spcBef>
            </a:pPr>
            <a:endParaRPr lang="uk-UA" sz="2200" b="0" strike="noStrike" spc="-1">
              <a:latin typeface="Arial"/>
            </a:endParaRPr>
          </a:p>
        </p:txBody>
      </p:sp>
      <p:sp>
        <p:nvSpPr>
          <p:cNvPr id="206" name="CustomShape 2"/>
          <p:cNvSpPr/>
          <p:nvPr/>
        </p:nvSpPr>
        <p:spPr>
          <a:xfrm>
            <a:off x="990000" y="2340360"/>
            <a:ext cx="3706560" cy="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uk-UA" sz="1800" b="0" strike="noStrike" spc="-1">
              <a:latin typeface="Arial"/>
            </a:endParaRPr>
          </a:p>
          <a:p>
            <a:pPr>
              <a:lnSpc>
                <a:spcPct val="100000"/>
              </a:lnSpc>
            </a:pPr>
            <a:endParaRPr lang="uk-UA" sz="1800" b="0" strike="noStrike" spc="-1">
              <a:latin typeface="Arial"/>
            </a:endParaRPr>
          </a:p>
        </p:txBody>
      </p:sp>
      <p:sp>
        <p:nvSpPr>
          <p:cNvPr id="207" name="CustomShape 3"/>
          <p:cNvSpPr/>
          <p:nvPr/>
        </p:nvSpPr>
        <p:spPr>
          <a:xfrm>
            <a:off x="4104000" y="1456200"/>
            <a:ext cx="2202480" cy="343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Обмеження моделі</a:t>
            </a:r>
            <a:endParaRPr lang="uk-UA" sz="1800" b="0" strike="noStrike" spc="-1">
              <a:latin typeface="Arial"/>
            </a:endParaRPr>
          </a:p>
        </p:txBody>
      </p:sp>
      <p:sp>
        <p:nvSpPr>
          <p:cNvPr id="208" name="CustomShape 4"/>
          <p:cNvSpPr/>
          <p:nvPr/>
        </p:nvSpPr>
        <p:spPr>
          <a:xfrm>
            <a:off x="747360" y="1809720"/>
            <a:ext cx="10195920" cy="1861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Перцептрони мають обмеження в задачах, пов'язаних з інваріантним представленням образів, тобто незалежним від їхнього положення на сенсорному полі та положення щодо інших фігур. Такі задачі виникають, наприклад, якщо нам потрібно побудувати машину для читання друкованих літер або цифр так, щоб ця машина могла розпізнавати їх незалежно від положення на сторінці (тобто щоб на рішення машини не впливали перенесення, обертання, розтяг-стиск символів) або якщо нам потрібно визначити зі скількох частин складається фігура або чи знаходяться дві фігури поруч чи ні.</a:t>
            </a:r>
            <a:endParaRPr lang="uk-UA" sz="1800" b="0" strike="noStrike" spc="-1">
              <a:latin typeface="Arial"/>
            </a:endParaRPr>
          </a:p>
        </p:txBody>
      </p:sp>
      <p:sp>
        <p:nvSpPr>
          <p:cNvPr id="209" name="CustomShape 5"/>
          <p:cNvSpPr/>
          <p:nvPr/>
        </p:nvSpPr>
        <p:spPr>
          <a:xfrm>
            <a:off x="792000" y="3744000"/>
            <a:ext cx="10281240" cy="84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Перцептрони не мають функціонального переваги над аналітичними методами (наприклад, статистичними) в задачах, пов'язаних із прогнозуванням. Тим не менше, в деяких випадках вони представляють простіший і продуктивніший метод аналізу даних.</a:t>
            </a:r>
            <a:endParaRPr lang="uk-UA" sz="1800" b="0" strike="noStrike" spc="-1">
              <a:latin typeface="Arial"/>
            </a:endParaRPr>
          </a:p>
        </p:txBody>
      </p:sp>
      <p:sp>
        <p:nvSpPr>
          <p:cNvPr id="210" name="CustomShape 6"/>
          <p:cNvSpPr/>
          <p:nvPr/>
        </p:nvSpPr>
        <p:spPr>
          <a:xfrm>
            <a:off x="808200" y="4803120"/>
            <a:ext cx="10403280" cy="596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uk-UA" sz="1800" b="0" strike="noStrike" spc="-1">
                <a:solidFill>
                  <a:srgbClr val="000000"/>
                </a:solidFill>
                <a:latin typeface="Arial"/>
                <a:ea typeface="DejaVu Sans"/>
              </a:rPr>
              <a:t>Деякі задачі в принципі може бути розв'язано перцептроном, але вони можуть вимагати нереально великого часу або нереально великої оперативної пам'яті.</a:t>
            </a:r>
            <a:endParaRPr lang="uk-UA" sz="1800" b="0" strike="noStrike" spc="-1">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291</TotalTime>
  <Words>2128</Words>
  <Application>Microsoft Office PowerPoint</Application>
  <PresentationFormat>Широкий екран</PresentationFormat>
  <Paragraphs>105</Paragraphs>
  <Slides>19</Slides>
  <Notes>0</Notes>
  <HiddenSlides>0</HiddenSlides>
  <MMClips>0</MMClips>
  <ScaleCrop>false</ScaleCrop>
  <HeadingPairs>
    <vt:vector size="6" baseType="variant">
      <vt:variant>
        <vt:lpstr>Використані шрифти</vt:lpstr>
      </vt:variant>
      <vt:variant>
        <vt:i4>5</vt:i4>
      </vt:variant>
      <vt:variant>
        <vt:lpstr>Тема</vt:lpstr>
      </vt:variant>
      <vt:variant>
        <vt:i4>3</vt:i4>
      </vt:variant>
      <vt:variant>
        <vt:lpstr>Заголовки слайдів</vt:lpstr>
      </vt:variant>
      <vt:variant>
        <vt:i4>19</vt:i4>
      </vt:variant>
    </vt:vector>
  </HeadingPairs>
  <TitlesOfParts>
    <vt:vector size="27" baseType="lpstr">
      <vt:lpstr>Arial</vt:lpstr>
      <vt:lpstr>Symbol</vt:lpstr>
      <vt:lpstr>Trebuchet MS</vt:lpstr>
      <vt:lpstr>Wingdings</vt:lpstr>
      <vt:lpstr>Wingdings 3</vt:lpstr>
      <vt:lpstr>Office Theme</vt:lpstr>
      <vt:lpstr>Office Theme</vt:lpstr>
      <vt:lpstr>Office Theme</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Факторный анализ</dc:title>
  <dc:subject/>
  <dc:creator>Rostislav-Nikolaenko</dc:creator>
  <dc:description/>
  <cp:lastModifiedBy>NN</cp:lastModifiedBy>
  <cp:revision>17</cp:revision>
  <dcterms:created xsi:type="dcterms:W3CDTF">2017-09-21T21:04:23Z</dcterms:created>
  <dcterms:modified xsi:type="dcterms:W3CDTF">2025-09-24T06:43:16Z</dcterms:modified>
  <dc:language>uk-UA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Company">
    <vt:lpwstr>diakov.net</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Широкоэкранный</vt:lpwstr>
  </property>
  <property fmtid="{D5CDD505-2E9C-101B-9397-08002B2CF9AE}" pid="10" name="ScaleCrop">
    <vt:bool>false</vt:bool>
  </property>
  <property fmtid="{D5CDD505-2E9C-101B-9397-08002B2CF9AE}" pid="11" name="ShareDoc">
    <vt:bool>false</vt:bool>
  </property>
  <property fmtid="{D5CDD505-2E9C-101B-9397-08002B2CF9AE}" pid="12" name="Slides">
    <vt:i4>27</vt:i4>
  </property>
</Properties>
</file>