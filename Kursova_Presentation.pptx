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84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65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09728" cy="109728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94192" y="274320"/>
            <a:ext cx="109728" cy="109728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58784" y="274320"/>
            <a:ext cx="109728" cy="109728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23376" y="274320"/>
            <a:ext cx="109728" cy="109728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87968" y="274320"/>
            <a:ext cx="109728" cy="109728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КУРСОВА РОБОТА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Градієнтні методи оптимізації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навчання нейромережі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Дисципліна: Методи оптимізації та дослідження операцій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Шапран Олег, група Б-122-23-1-ШІ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Перевірив: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Валерій Григорович Хребет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НАКУ «КАІ» · Київ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ЗМІСТ ДОПОВІДІ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6002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і мета роботи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21031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порівнювати методи оптимізації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74320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01568" y="16002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Теоретична база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1031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MLP, функція втрат MSE, backpropagation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74320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27648" y="16002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методи оптимізації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21031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· Метод найшвидшого спуску · Метод Ньютона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74320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" y="34290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Експериментальні результати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9319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збіжності на задачі XOR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74320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01568" y="34290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01568" y="39319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знахідки та обмеження методів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20040" cy="3200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Градієнтний спуск — основа навчання будь-якої нейромережі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320040" cy="3200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Класичний GD страждає від: повільної збіжності, чутливості до η, застрягання в локальних мінімумах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20040" cy="3200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методів дозволяє обґрунтовано вибирати алгоритм для конкретної задачі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005840"/>
            <a:ext cx="374904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Порівняльний аналіз ефективності трьох методів оптимізації при навчанні MLP на задачі мінімізації функції втрат: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468880"/>
            <a:ext cx="3383280" cy="457200"/>
          </a:xfrm>
          <a:prstGeom prst="rect">
            <a:avLst/>
          </a:prstGeom>
          <a:solidFill>
            <a:srgbClr val="1E88E5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487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Градієнтний спуск (GD)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3063240"/>
            <a:ext cx="3383280" cy="457200"/>
          </a:xfrm>
          <a:prstGeom prst="rect">
            <a:avLst/>
          </a:prstGeom>
          <a:solidFill>
            <a:srgbClr val="43A047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0815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найшвидшого спуску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3657600"/>
            <a:ext cx="3383280" cy="457200"/>
          </a:xfrm>
          <a:prstGeom prst="rect">
            <a:avLst/>
          </a:prstGeom>
          <a:solidFill>
            <a:srgbClr val="C62828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675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Ньютона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МЕРЕЖІ ТА ЗАДАЧА XOR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029200" cy="30175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960120"/>
            <a:ext cx="347472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1148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кількість параметрів (w): 17  ·  Функція втрат: MSE  ·  Seed = 42  ·  Початковий Loss = 0.2557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E08A738-942E-46B8-8670-8E6029CDE32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F4F3271-B962-4990-9605-364AA1C6D1EA}"/>
              </a:ext>
            </a:extLst>
          </p:cNvPr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МЕРЕЖА НАВЧАЄТЬСЯ?</a:t>
            </a:r>
            <a:endParaRPr lang="en-US" sz="22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45634C8C-D812-4375-8980-42153244E8F6}"/>
              </a:ext>
            </a:extLst>
          </p:cNvPr>
          <p:cNvSpPr/>
          <p:nvPr/>
        </p:nvSpPr>
        <p:spPr>
          <a:xfrm>
            <a:off x="274320" y="1005840"/>
            <a:ext cx="246888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1773A55-9FEE-4281-A946-1002BEDDECB6}"/>
              </a:ext>
            </a:extLst>
          </p:cNvPr>
          <p:cNvSpPr/>
          <p:nvPr/>
        </p:nvSpPr>
        <p:spPr>
          <a:xfrm>
            <a:off x="1234440" y="960120"/>
            <a:ext cx="548640" cy="5486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5402F24-2D29-408D-8524-B307FFF31467}"/>
              </a:ext>
            </a:extLst>
          </p:cNvPr>
          <p:cNvSpPr/>
          <p:nvPr/>
        </p:nvSpPr>
        <p:spPr>
          <a:xfrm>
            <a:off x="123444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225D4F3-CCA5-4500-8796-0CE22EE19BA7}"/>
              </a:ext>
            </a:extLst>
          </p:cNvPr>
          <p:cNvSpPr/>
          <p:nvPr/>
        </p:nvSpPr>
        <p:spPr>
          <a:xfrm>
            <a:off x="36576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Передбачення</a:t>
            </a:r>
            <a:endParaRPr lang="en-US" sz="13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14CA806-9330-4F81-A349-6026ED6B0A1B}"/>
              </a:ext>
            </a:extLst>
          </p:cNvPr>
          <p:cNvSpPr/>
          <p:nvPr/>
        </p:nvSpPr>
        <p:spPr>
          <a:xfrm>
            <a:off x="365760" y="19659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 бачить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вхідний вектор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рахує ŷ через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сигмоїдні нейрони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за шаром</a:t>
            </a:r>
            <a:endParaRPr lang="en-US" sz="11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81C770C-B7F4-4E4E-AF7B-752353594D25}"/>
              </a:ext>
            </a:extLst>
          </p:cNvPr>
          <p:cNvSpPr/>
          <p:nvPr/>
        </p:nvSpPr>
        <p:spPr>
          <a:xfrm>
            <a:off x="274320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EC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C517379-DF37-48B7-9E9F-9D136AECDE50}"/>
              </a:ext>
            </a:extLst>
          </p:cNvPr>
          <p:cNvSpPr/>
          <p:nvPr/>
        </p:nvSpPr>
        <p:spPr>
          <a:xfrm>
            <a:off x="3337560" y="1005840"/>
            <a:ext cx="246888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62A1B2D-A7B2-437F-BD7C-5845446FBCBE}"/>
              </a:ext>
            </a:extLst>
          </p:cNvPr>
          <p:cNvSpPr/>
          <p:nvPr/>
        </p:nvSpPr>
        <p:spPr>
          <a:xfrm>
            <a:off x="4297680" y="960120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A234741-C06B-4572-BDA6-DC5BAF2100AC}"/>
              </a:ext>
            </a:extLst>
          </p:cNvPr>
          <p:cNvSpPr/>
          <p:nvPr/>
        </p:nvSpPr>
        <p:spPr>
          <a:xfrm>
            <a:off x="429768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4CCD000-F254-4BED-B7F1-7FD6FD87D1FF}"/>
              </a:ext>
            </a:extLst>
          </p:cNvPr>
          <p:cNvSpPr/>
          <p:nvPr/>
        </p:nvSpPr>
        <p:spPr>
          <a:xfrm>
            <a:off x="34290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Вимірювання помилки</a:t>
            </a:r>
            <a:endParaRPr lang="en-US" sz="13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D8E0889-D9E3-4E62-A515-615C0AAC554E}"/>
              </a:ext>
            </a:extLst>
          </p:cNvPr>
          <p:cNvSpPr/>
          <p:nvPr/>
        </p:nvSpPr>
        <p:spPr>
          <a:xfrm>
            <a:off x="342900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рахує наскільки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передбачення ŷ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відрізняється від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правильної відповіді y.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Чим більше — тим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гірше навчилась.</a:t>
            </a:r>
            <a:endParaRPr lang="en-US" sz="11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2CB14C4B-CCBD-400D-93BE-719543897F2B}"/>
              </a:ext>
            </a:extLst>
          </p:cNvPr>
          <p:cNvSpPr/>
          <p:nvPr/>
        </p:nvSpPr>
        <p:spPr>
          <a:xfrm>
            <a:off x="580644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EC5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70590ADC-95A6-4FF6-AC36-330906B24693}"/>
              </a:ext>
            </a:extLst>
          </p:cNvPr>
          <p:cNvSpPr/>
          <p:nvPr/>
        </p:nvSpPr>
        <p:spPr>
          <a:xfrm>
            <a:off x="6400800" y="1005840"/>
            <a:ext cx="246888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75DED3CC-E8D2-48A1-B814-539ACDBDFC31}"/>
              </a:ext>
            </a:extLst>
          </p:cNvPr>
          <p:cNvSpPr/>
          <p:nvPr/>
        </p:nvSpPr>
        <p:spPr>
          <a:xfrm>
            <a:off x="7360920" y="960120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C1170D7-22D4-43AD-B04B-B31D13F5B895}"/>
              </a:ext>
            </a:extLst>
          </p:cNvPr>
          <p:cNvSpPr/>
          <p:nvPr/>
        </p:nvSpPr>
        <p:spPr>
          <a:xfrm>
            <a:off x="736092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DD1E162-7C00-4BC3-9CF7-BE83D5F946C4}"/>
              </a:ext>
            </a:extLst>
          </p:cNvPr>
          <p:cNvSpPr/>
          <p:nvPr/>
        </p:nvSpPr>
        <p:spPr>
          <a:xfrm>
            <a:off x="649224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Оновлення ваг</a:t>
            </a:r>
            <a:endParaRPr lang="en-US" sz="13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1DCDC2B4-9B07-4760-90CA-BB8C84EB39E4}"/>
              </a:ext>
            </a:extLst>
          </p:cNvPr>
          <p:cNvSpPr/>
          <p:nvPr/>
        </p:nvSpPr>
        <p:spPr>
          <a:xfrm>
            <a:off x="649224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Похибка поширюється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назад через мережу.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вага отримує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свою «частку вини»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зміщується у бік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меншої помилки.</a:t>
            </a:r>
            <a:endParaRPr lang="en-US" sz="11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D842B9B-1101-466E-99C3-335B33B0FCAC}"/>
              </a:ext>
            </a:extLst>
          </p:cNvPr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повторюється сотні або тисячі разів — поки функція втрат не досягне мінімуму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9264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ЗВОРОТНОГО ПОШИРЕННЯ ПОМИЛКИ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794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PASS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Z¹ = W¹·x + b¹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A¹ = σ(Z¹)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Z² = W²·A¹ + b²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A² = σ(Z²)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(1/4)·Σ(yᵢ – ŷᵢ)²  [MSE]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4023360" cy="3794760"/>
          </a:xfrm>
          <a:prstGeom prst="rect">
            <a:avLst/>
          </a:prstGeom>
          <a:solidFill>
            <a:srgbClr val="1B2A4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PASS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δ² = (ŷ–y)·σ'(Z²)·(2/n)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∂L/∂W² = δ²·(A¹)ᵀ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∂L/∂A¹ = (W²)ᵀ·δ²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δ¹ = ∂L/∂A¹ ⊙ σ'(Z¹)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∂L/∂W¹ = δ¹·xᵀ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градієнту ∇L(w): розмір 17×1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1: ГРАДІЄНТНИЙ СПУСК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777240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w_{k+1} = w_k − η · ∇L(w_k)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468880" cy="2286000"/>
          </a:xfrm>
          <a:prstGeom prst="rect">
            <a:avLst/>
          </a:prstGeom>
          <a:solidFill>
            <a:srgbClr val="43A047">
              <a:alpha val="1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Переваги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 реалізації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Низька вартість ітерації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Стабільність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920240"/>
            <a:ext cx="2468880" cy="2286000"/>
          </a:xfrm>
          <a:prstGeom prst="rect">
            <a:avLst/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Недоліки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Чутливість до вибору 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Повільна збіжність у ярах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Локальні мінімуми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005840"/>
            <a:ext cx="3200400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Вплив learning rate 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463040"/>
            <a:ext cx="74980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10528" y="1463040"/>
            <a:ext cx="74980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Ітерацій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60336" y="1463040"/>
            <a:ext cx="74980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0336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10144" y="1463040"/>
            <a:ext cx="74980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0144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60720" y="1847088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8470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10528" y="1847088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8470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60336" y="1847088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8470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0.1245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10144" y="1847088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8470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Плато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60720" y="2231136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2311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231136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2311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60336" y="2231136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0336" y="22311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0.0812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10144" y="2231136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10144" y="22311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Повільно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2615184"/>
            <a:ext cx="749808" cy="384048"/>
          </a:xfrm>
          <a:prstGeom prst="rect">
            <a:avLst/>
          </a:prstGeom>
          <a:solidFill>
            <a:srgbClr val="1A3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261518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10528" y="2615184"/>
            <a:ext cx="749808" cy="384048"/>
          </a:xfrm>
          <a:prstGeom prst="rect">
            <a:avLst/>
          </a:prstGeom>
          <a:solidFill>
            <a:srgbClr val="1A3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0528" y="261518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60336" y="2615184"/>
            <a:ext cx="749808" cy="384048"/>
          </a:xfrm>
          <a:prstGeom prst="rect">
            <a:avLst/>
          </a:prstGeom>
          <a:solidFill>
            <a:srgbClr val="1A3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0336" y="261518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10144" y="2615184"/>
            <a:ext cx="749808" cy="384048"/>
          </a:xfrm>
          <a:prstGeom prst="rect">
            <a:avLst/>
          </a:prstGeom>
          <a:solidFill>
            <a:srgbClr val="1A3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261518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Найкраще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60720" y="2999232"/>
            <a:ext cx="749808" cy="384048"/>
          </a:xfrm>
          <a:prstGeom prst="rect">
            <a:avLst/>
          </a:prstGeom>
          <a:solidFill>
            <a:srgbClr val="3A1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29992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10528" y="2999232"/>
            <a:ext cx="749808" cy="384048"/>
          </a:xfrm>
          <a:prstGeom prst="rect">
            <a:avLst/>
          </a:prstGeom>
          <a:solidFill>
            <a:srgbClr val="3A1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29992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60336" y="2999232"/>
            <a:ext cx="749808" cy="384048"/>
          </a:xfrm>
          <a:prstGeom prst="rect">
            <a:avLst/>
          </a:prstGeom>
          <a:solidFill>
            <a:srgbClr val="3A1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0336" y="29992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010144" y="2999232"/>
            <a:ext cx="749808" cy="384048"/>
          </a:xfrm>
          <a:prstGeom prst="rect">
            <a:avLst/>
          </a:prstGeom>
          <a:solidFill>
            <a:srgbClr val="3A1A1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10144" y="29992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Розбіжність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Збіжність: лінійна  ·  Складність: O(d)  ·  d = 17 параметрів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2: МЕТОД НАЙШВИДШОГО СПУСКУ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777240"/>
          </a:xfrm>
          <a:prstGeom prst="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η_k = argmin L(w_k − η·∇L(w_k))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5029200" cy="2331720"/>
          </a:xfrm>
          <a:prstGeom prst="rect">
            <a:avLst/>
          </a:prstGeom>
          <a:solidFill>
            <a:srgbClr val="1B2A4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Брента (Line Search)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Гібрид: золотий переріз + квадратична інтерполяція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Суперлінійна збіжність ~1.32 (без обчислення похідних)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Перемикання між методами залежно від поведінки функції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398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Гарантована збіжність навіть для нерегулярних функцій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960120"/>
            <a:ext cx="3291840" cy="228600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291840"/>
            <a:ext cx="329184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-1363980" y="439750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Збіжність: суперлінійна  ·  Компроміс: менше ітерацій, але вища вартість кожної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3: МЕТОД НЬЮТОНА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754880" cy="777240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w_{k+1} = w_k − H⁻¹(w_k) · ∇L(w_k)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75488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в роботі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Гессіан 17×17 через центральні різниці O(ε²)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Симетризація: H = ½(H + Hᵀ)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Демпфінг Левенберга-Марквардта: Hₘₒd = H + λI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Адаптивний λ: ×0.5 при успіху, ×10 при невдачі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λ→0: чистий Ньютон (квадратична збіжність)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995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λ→∞: градієнтний спуск (стабільний)</a:t>
            </a:r>
            <a:endParaRPr lang="en-US" sz="10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960120"/>
            <a:ext cx="3657600" cy="32918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Збіжність: квадратична  ·  Складність: O(d²) = O(289)  ·  Обмеження: лише малі мережі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ГРАФІКИ ЗБІЖНОСТІ МЕТОДІВ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ПОРІВНЯЛЬНИЙ АНАЛІЗ РЕЗУЛЬТАТІВ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16459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Ітерацій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Точність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Градієнтний спуск (η=1.0)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 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3.21×10⁻³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найшвидшого спуску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 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7.90×10⁻³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Ньютона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 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5.30×10⁻⁷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5D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017520"/>
            <a:ext cx="278892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3017520"/>
            <a:ext cx="2788920" cy="411480"/>
          </a:xfrm>
          <a:prstGeom prst="rect">
            <a:avLst/>
          </a:prstGeom>
          <a:solidFill>
            <a:srgbClr val="1E88E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Градієнтний спуск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ітерацій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37490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3.21×10⁻³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0050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Час: 0.133 с</a:t>
            </a:r>
            <a:endParaRPr lang="en-US" sz="1000" dirty="0"/>
          </a:p>
        </p:txBody>
      </p:sp>
      <p:sp>
        <p:nvSpPr>
          <p:cNvPr id="4" name="Text 8"/>
          <p:cNvSpPr/>
          <p:nvPr/>
        </p:nvSpPr>
        <p:spPr>
          <a:xfrm>
            <a:off x="365760" y="4261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Точність: 75%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7472" y="4544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досяг tol=1e-6. Чутливий до η. Застряг у локальному мінімумі.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0" y="3017520"/>
            <a:ext cx="278892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3017520"/>
            <a:ext cx="2788920" cy="411480"/>
          </a:xfrm>
          <a:prstGeom prst="rect">
            <a:avLst/>
          </a:prstGeom>
          <a:solidFill>
            <a:srgbClr val="43A047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Найшвидший спуск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91840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ітерацій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91840" y="37490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7.90×10⁻³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91840" y="40050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Час: 0.288 с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91840" y="4261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Точність: 75%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73552" y="4544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ітерацій ніж GD, але час більший через line search на кожній ітерації.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26480" y="3017520"/>
            <a:ext cx="278892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3017520"/>
            <a:ext cx="2788920" cy="411480"/>
          </a:xfrm>
          <a:prstGeom prst="rect">
            <a:avLst/>
          </a:prstGeom>
          <a:solidFill>
            <a:srgbClr val="EF5350">
              <a:alpha val="7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Ньютона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17920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ітерацій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0" y="37490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5.30×10⁻⁷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40050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Час: 0.511 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0" y="4261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Точність: 100% 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99632" y="4544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Квадратична збіжність. На 4 порядки кращий loss. 100% XOR!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93268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Градієнтний спуск (η=1.0) не досяг tol=1e-6 за 2000 ітерацій — застряг у локальному мінімумі. При η=2.0 спостерігається розбіжність вже на 185-й ітерації.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347472" cy="34747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89280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найшвидшого спуску (200 ітерацій) підтвердив компроміс: автоматичний вибір кроку не гарантує виграшу в часі через вартість line search.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347472" cy="347472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85292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Ньютона показав квадратичну збіжність: 36 ітерацій, loss=5.30×10⁻⁷ — на 4 порядки краще. 100% точність XOR. Практично реалізований завдяки малій розмірності (17 параметрів).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840480"/>
            <a:ext cx="347472" cy="347472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813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методу залежить від масштабу: для малих мереж — Ньютон; для великих — адаптивні градієнтні методи (Adam, RMSProp) є галузевим стандартом.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920</Words>
  <Application>Microsoft Office PowerPoint</Application>
  <PresentationFormat>Екран (16:9)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Градієнтні методи оптимізації для навчання нейромережі</dc:title>
  <dc:subject>PptxGenJS Presentation</dc:subject>
  <dc:creator>PptxGenJS</dc:creator>
  <cp:lastModifiedBy>Oleg Shapran</cp:lastModifiedBy>
  <cp:revision>4</cp:revision>
  <dcterms:created xsi:type="dcterms:W3CDTF">2026-05-19T20:27:35Z</dcterms:created>
  <dcterms:modified xsi:type="dcterms:W3CDTF">2026-05-20T12:07:00Z</dcterms:modified>
</cp:coreProperties>
</file>