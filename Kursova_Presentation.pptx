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7845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274320"/>
            <a:ext cx="109728" cy="109728"/>
          </a:xfrm>
          <a:prstGeom prst="ellipse">
            <a:avLst/>
          </a:prstGeom>
          <a:solidFill>
            <a:srgbClr val="1E88E5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394192" y="274320"/>
            <a:ext cx="109728" cy="109728"/>
          </a:xfrm>
          <a:prstGeom prst="ellipse">
            <a:avLst/>
          </a:prstGeom>
          <a:solidFill>
            <a:srgbClr val="1E88E5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58784" y="274320"/>
            <a:ext cx="109728" cy="109728"/>
          </a:xfrm>
          <a:prstGeom prst="ellipse">
            <a:avLst/>
          </a:prstGeom>
          <a:solidFill>
            <a:srgbClr val="1E88E5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23376" y="274320"/>
            <a:ext cx="109728" cy="109728"/>
          </a:xfrm>
          <a:prstGeom prst="ellipse">
            <a:avLst/>
          </a:prstGeom>
          <a:solidFill>
            <a:srgbClr val="1E88E5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887968" y="274320"/>
            <a:ext cx="109728" cy="109728"/>
          </a:xfrm>
          <a:prstGeom prst="ellipse">
            <a:avLst/>
          </a:prstGeom>
          <a:solidFill>
            <a:srgbClr val="1E88E5">
              <a:alpha val="6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КУРСОВА РОБОТА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Градієнтні методи оптимізації</a:t>
            </a:r>
            <a:endParaRPr lang="en-US" sz="3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навчання нейромережі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71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Дисципліна: Методи оптимізації та дослідження операцій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474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Шапран Олег, група Б-122-23-1-ШІ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Перевірив: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Валерій Григорович Хребет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НАКУ «КАІ» · Київ –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ЗМІСТ ДОПОВІДІ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743200" cy="1554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75488" y="16002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мета роботи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" y="21031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Навіщо порівнювати методи оптимізації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743200" cy="1554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01568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01568" y="16002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Теоретична база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01568" y="21031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MLP, функція втрат MSE, backpropagation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097280"/>
            <a:ext cx="2743200" cy="1554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27648" y="16002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методи оптимізації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27648" y="21031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· Метод найшвидшого спуску · Метод Ньютона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2743200" cy="1554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5488" y="34290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Експериментальні результати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" y="39319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Порівняння збіжності на задачі XOR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2926080"/>
            <a:ext cx="2743200" cy="1554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01568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401568" y="34290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01568" y="39319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знахідки та обмеження методів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ТА МЕТА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320040" cy="320040"/>
          </a:xfrm>
          <a:prstGeom prst="ellipse">
            <a:avLst/>
          </a:prstGeom>
          <a:solidFill>
            <a:srgbClr val="1E88E5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1051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0058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Градієнтний спуск — основа навчання будь-якої нейромережі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2148840"/>
            <a:ext cx="320040" cy="320040"/>
          </a:xfrm>
          <a:prstGeom prst="ellipse">
            <a:avLst/>
          </a:prstGeom>
          <a:solidFill>
            <a:srgbClr val="1E88E5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1031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Класичний GD страждає від: повільної збіжності, чутливості до η, застрягання в локальних мінімумах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3246120"/>
            <a:ext cx="320040" cy="320040"/>
          </a:xfrm>
          <a:prstGeom prst="ellipse">
            <a:avLst/>
          </a:prstGeom>
          <a:solidFill>
            <a:srgbClr val="1E88E5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3246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Порівняння методів дозволяє обґрунтовано вибирати алгоритм для конкретної задачі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0" y="1005840"/>
            <a:ext cx="3749040" cy="3566160"/>
          </a:xfrm>
          <a:prstGeom prst="rect">
            <a:avLst/>
          </a:prstGeom>
          <a:solidFill>
            <a:srgbClr val="1B2A4A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1097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РОБОТИ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12080" y="15544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Порівняльний аналіз ефективності трьох методів оптимізації при навчанні MLP на задачі мінімізації функції втрат: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12080" y="2468880"/>
            <a:ext cx="3383280" cy="457200"/>
          </a:xfrm>
          <a:prstGeom prst="rect">
            <a:avLst/>
          </a:prstGeom>
          <a:solidFill>
            <a:srgbClr val="1E88E5">
              <a:alpha val="3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0" y="2487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Градієнтний спуск (GD)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2080" y="3063240"/>
            <a:ext cx="3383280" cy="457200"/>
          </a:xfrm>
          <a:prstGeom prst="rect">
            <a:avLst/>
          </a:prstGeom>
          <a:solidFill>
            <a:srgbClr val="43A047">
              <a:alpha val="3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0" y="308152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найшвидшого спуску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12080" y="3657600"/>
            <a:ext cx="3383280" cy="457200"/>
          </a:xfrm>
          <a:prstGeom prst="rect">
            <a:avLst/>
          </a:prstGeom>
          <a:solidFill>
            <a:srgbClr val="C62828">
              <a:alpha val="3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6758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Ньютона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МЕРЕЖІ ТА ЗАДАЧА XOR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029200" cy="30175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960120"/>
            <a:ext cx="3474720" cy="3017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Загальна кількість параметрів (w): 17  ·  Функція втрат: MSE  ·  Seed = 42  ·  Початковий Loss = 0.2557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ЗВОРОТНОГО ПОШИРЕННЯ ПОМИЛКИ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023360" cy="3794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24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8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PASS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Z¹ = W¹·x + b¹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A¹ = σ(Z¹)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Z² = W²·A¹ + b²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ŷ = A² = σ(Z²)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566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A8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(1/4)·Σ(yᵢ – ŷᵢ)²  [MSE]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960120"/>
            <a:ext cx="4023360" cy="3794760"/>
          </a:xfrm>
          <a:prstGeom prst="rect">
            <a:avLst/>
          </a:prstGeom>
          <a:solidFill>
            <a:srgbClr val="1B2A4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024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 PASS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15087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δ² = (ŷ–y)·σ'(Z²)·(2/n)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937760" y="21031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∂L/∂W² = δ²·(A¹)ᵀ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937760" y="2697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∂L/∂A¹ = (W²)ᵀ·δ²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δ¹ = ∂L/∂A¹ ⊙ σ'(Z¹)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937760" y="3886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3F2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∂L/∂W¹ = δ¹·xᵀ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93776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 градієнту ∇L(w): розмір 17×1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914400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1: ГРАДІЄНТНИЙ СПУСК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029200" cy="777240"/>
          </a:xfrm>
          <a:prstGeom prst="rect">
            <a:avLst/>
          </a:prstGeom>
          <a:solidFill>
            <a:srgbClr val="1E88E5">
              <a:alpha val="2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w_{k+1} = w_k − η · ∇L(w_k)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2468880" cy="2286000"/>
          </a:xfrm>
          <a:prstGeom prst="rect">
            <a:avLst/>
          </a:prstGeom>
          <a:solidFill>
            <a:srgbClr val="43A047">
              <a:alpha val="15000"/>
            </a:srgbClr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Переваги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Простота реалізації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Низька вартість ітерації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Стабільність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1920240"/>
            <a:ext cx="2468880" cy="2286000"/>
          </a:xfrm>
          <a:prstGeom prst="rect">
            <a:avLst/>
          </a:prstGeom>
          <a:solidFill>
            <a:srgbClr val="C62828">
              <a:alpha val="15000"/>
            </a:srgbClr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Недоліки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Чутливість до вибору η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1752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Повільна збіжність у ярах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1752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Локальні мінімуми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0" y="1005840"/>
            <a:ext cx="3200400" cy="3246120"/>
          </a:xfrm>
          <a:prstGeom prst="rect">
            <a:avLst/>
          </a:prstGeom>
          <a:solidFill>
            <a:srgbClr val="1B2A4A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06440" y="1051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Вплив learning rate η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1463040"/>
            <a:ext cx="749808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146304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510528" y="1463040"/>
            <a:ext cx="749808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146304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Ітерацій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260336" y="1463040"/>
            <a:ext cx="749808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0336" y="146304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010144" y="1463040"/>
            <a:ext cx="749808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0144" y="146304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760720" y="1847088"/>
            <a:ext cx="749808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184708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510528" y="1847088"/>
            <a:ext cx="749808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0528" y="184708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60336" y="1847088"/>
            <a:ext cx="749808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60336" y="184708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0.1245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10144" y="1847088"/>
            <a:ext cx="749808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10144" y="184708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Плато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760720" y="2231136"/>
            <a:ext cx="749808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0" y="2231136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10528" y="2231136"/>
            <a:ext cx="749808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10528" y="2231136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60336" y="2231136"/>
            <a:ext cx="749808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60336" y="2231136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0.0812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010144" y="2231136"/>
            <a:ext cx="749808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10144" y="2231136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Повільно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760720" y="2615184"/>
            <a:ext cx="749808" cy="384048"/>
          </a:xfrm>
          <a:prstGeom prst="rect">
            <a:avLst/>
          </a:prstGeom>
          <a:solidFill>
            <a:srgbClr val="1A3A1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0" y="2615184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510528" y="2615184"/>
            <a:ext cx="749808" cy="384048"/>
          </a:xfrm>
          <a:prstGeom prst="rect">
            <a:avLst/>
          </a:prstGeom>
          <a:solidFill>
            <a:srgbClr val="1A3A1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10528" y="2615184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60336" y="2615184"/>
            <a:ext cx="749808" cy="384048"/>
          </a:xfrm>
          <a:prstGeom prst="rect">
            <a:avLst/>
          </a:prstGeom>
          <a:solidFill>
            <a:srgbClr val="1A3A1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60336" y="2615184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0.0052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010144" y="2615184"/>
            <a:ext cx="749808" cy="384048"/>
          </a:xfrm>
          <a:prstGeom prst="rect">
            <a:avLst/>
          </a:prstGeom>
          <a:solidFill>
            <a:srgbClr val="1A3A1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10144" y="2615184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Найкраще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60720" y="2999232"/>
            <a:ext cx="749808" cy="384048"/>
          </a:xfrm>
          <a:prstGeom prst="rect">
            <a:avLst/>
          </a:prstGeom>
          <a:solidFill>
            <a:srgbClr val="3A1A1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60720" y="299923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10528" y="2999232"/>
            <a:ext cx="749808" cy="384048"/>
          </a:xfrm>
          <a:prstGeom prst="rect">
            <a:avLst/>
          </a:prstGeom>
          <a:solidFill>
            <a:srgbClr val="3A1A1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10528" y="299923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260336" y="2999232"/>
            <a:ext cx="749808" cy="384048"/>
          </a:xfrm>
          <a:prstGeom prst="rect">
            <a:avLst/>
          </a:prstGeom>
          <a:solidFill>
            <a:srgbClr val="3A1A1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60336" y="299923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010144" y="2999232"/>
            <a:ext cx="749808" cy="384048"/>
          </a:xfrm>
          <a:prstGeom prst="rect">
            <a:avLst/>
          </a:prstGeom>
          <a:solidFill>
            <a:srgbClr val="3A1A1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10144" y="2999232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Розбіжність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274320" y="448056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Збіжність: лінійна  ·  Складність: O(d)  ·  d = 17 параметрів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B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914400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2: МЕТОД НАЙШВИДШОГО СПУСКУ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029200" cy="777240"/>
          </a:xfrm>
          <a:prstGeom prst="rect">
            <a:avLst/>
          </a:prstGeom>
          <a:solidFill>
            <a:srgbClr val="43A047">
              <a:alpha val="20000"/>
            </a:srgbClr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η_k = argmin L(w_k − η·∇L(w_k))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5029200" cy="2331720"/>
          </a:xfrm>
          <a:prstGeom prst="rect">
            <a:avLst/>
          </a:prstGeom>
          <a:solidFill>
            <a:srgbClr val="1B2A4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93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Брента (Line Search)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45059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Гібрид: золотий переріз + квадратична інтерполяція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803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Суперлінійна збіжність ~1.32 (без обчислення похідних)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3101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Перемикання між методами залежно від поведінки функції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3989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Гарантована збіжність навіть для нерегулярних функцій</a:t>
            </a:r>
            <a:endParaRPr lang="en-US" sz="1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960120"/>
            <a:ext cx="3291840" cy="2286000"/>
          </a:xfrm>
          <a:prstGeom prst="rect">
            <a:avLst/>
          </a:prstGeom>
        </p:spPr>
      </p:pic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291840"/>
            <a:ext cx="3291840" cy="1600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-1363980" y="439750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Збіжність: суперлінійна  ·  Компроміс: менше ітерацій, але вища вартість кожної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B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9144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3: МЕТОД НЬЮТОНА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754880" cy="777240"/>
          </a:xfrm>
          <a:prstGeom prst="rect">
            <a:avLst/>
          </a:prstGeom>
          <a:solidFill>
            <a:srgbClr val="C62828">
              <a:alpha val="20000"/>
            </a:srgbClr>
          </a:solidFill>
          <a:ln w="12700">
            <a:solidFill>
              <a:srgbClr val="EF9A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w_{k+1} = w_k − H⁻¹(w_k) · ∇L(w_k)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1874520"/>
            <a:ext cx="4754880" cy="2377440"/>
          </a:xfrm>
          <a:prstGeom prst="rect">
            <a:avLst/>
          </a:prstGeom>
          <a:solidFill>
            <a:srgbClr val="1B2A4A"/>
          </a:solidFill>
          <a:ln w="12700">
            <a:solidFill>
              <a:srgbClr val="EF9A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385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в роботі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3957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Гессіан 17×17 через центральні різниці O(ε²)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71576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Симетризація: H = ½(H + Hᵀ)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303580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Демпфінг Левенберга-Марквардта: Hₘₒd = H + λI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33558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Адаптивний λ: ×0.5 при успіху, ×10 при невдачі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367588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λ→0: чистий Ньютон (квадратична збіжність)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995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λ→∞: градієнтний спуск (стабільний)</a:t>
            </a:r>
            <a:endParaRPr lang="en-US" sz="105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960120"/>
            <a:ext cx="3657600" cy="32918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274320" y="448056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Збіжність: квадратична  ·  Складність: O(d²) = O(289)  ·  Обмеження: лише малі мережі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ГРАФІКИ ЗБІЖНОСТІ МЕТОДІВ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59536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ПОРІВНЯЛЬНИЙ АНАЛІЗ РЕЗУЛЬТАТІВ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164592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Ітерацій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Точність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3F2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Градієнтний спуск (η=1.0)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3F2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3F2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 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3F2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3.21×10⁻³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F9A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E3F2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 найшвидшого спуску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3F2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3F2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0.288 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3F2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7.90×10⁻³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F9A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 Ньютона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0.511 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5.30×10⁻⁷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E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A5D6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4A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3017520"/>
            <a:ext cx="2788920" cy="1828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74320" y="3017520"/>
            <a:ext cx="2788920" cy="411480"/>
          </a:xfrm>
          <a:prstGeom prst="rect">
            <a:avLst/>
          </a:prstGeom>
          <a:solidFill>
            <a:srgbClr val="1E88E5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30175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Градієнтний спуск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65760" y="3493008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ітерацій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65760" y="374904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3.21×10⁻³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40050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Час: 0.133 с</a:t>
            </a:r>
            <a:endParaRPr lang="en-US" sz="1000" dirty="0"/>
          </a:p>
        </p:txBody>
      </p:sp>
      <p:sp>
        <p:nvSpPr>
          <p:cNvPr id="4" name="Text 8"/>
          <p:cNvSpPr/>
          <p:nvPr/>
        </p:nvSpPr>
        <p:spPr>
          <a:xfrm>
            <a:off x="365760" y="4261104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Точність: 75%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47472" y="45445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досяг tol=1e-6. Чутливий до η. Застряг у локальному мінімумі.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00400" y="3017520"/>
            <a:ext cx="2788920" cy="1828800"/>
          </a:xfrm>
          <a:prstGeom prst="rect">
            <a:avLst/>
          </a:prstGeom>
          <a:solidFill>
            <a:srgbClr val="1B2A4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3017520"/>
            <a:ext cx="2788920" cy="411480"/>
          </a:xfrm>
          <a:prstGeom prst="rect">
            <a:avLst/>
          </a:prstGeom>
          <a:solidFill>
            <a:srgbClr val="43A047">
              <a:alpha val="70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3291840" y="30175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 спуск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291840" y="3493008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ітерацій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291840" y="374904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7.90×10⁻³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291840" y="40050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Час: 0.288 с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291840" y="4261104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Точність: 75%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273552" y="45445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Менше ітерацій ніж GD, але час більший через line search на кожній ітерації.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126480" y="3017520"/>
            <a:ext cx="2788920" cy="1828800"/>
          </a:xfrm>
          <a:prstGeom prst="rect">
            <a:avLst/>
          </a:prstGeom>
          <a:solidFill>
            <a:srgbClr val="1B2A4A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26480" y="3017520"/>
            <a:ext cx="2788920" cy="411480"/>
          </a:xfrm>
          <a:prstGeom prst="rect">
            <a:avLst/>
          </a:prstGeom>
          <a:solidFill>
            <a:srgbClr val="EF5350">
              <a:alpha val="70000"/>
            </a:srgbClr>
          </a:solidFill>
          <a:ln/>
        </p:spPr>
      </p:sp>
      <p:sp>
        <p:nvSpPr>
          <p:cNvPr id="23" name="Text 20"/>
          <p:cNvSpPr/>
          <p:nvPr/>
        </p:nvSpPr>
        <p:spPr>
          <a:xfrm>
            <a:off x="6217920" y="30175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Ньютона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17920" y="3493008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ітерацій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17920" y="374904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5.30×10⁻⁷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17920" y="40050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Час: 0.511 с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217920" y="4261104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Точність: 100% ✓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199632" y="45445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Квадратична збіжність. На 4 порядки кращий loss. 100% XOR!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0D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4" name="Shape 2"/>
          <p:cNvSpPr/>
          <p:nvPr/>
        </p:nvSpPr>
        <p:spPr>
          <a:xfrm>
            <a:off x="9006840" y="0"/>
            <a:ext cx="137160" cy="5143500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347472" cy="347472"/>
          </a:xfrm>
          <a:prstGeom prst="ellipse">
            <a:avLst/>
          </a:prstGeom>
          <a:solidFill>
            <a:srgbClr val="1E88E5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60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93268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Градієнтний спуск (η=1.0) не досяг tol=1e-6 за 2000 ітерацій — застряг у локальному мінімумі. При η=2.0 спостерігається розбіжність вже на 185-й ітерації.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1920240"/>
            <a:ext cx="347472" cy="347472"/>
          </a:xfrm>
          <a:prstGeom prst="ellipse">
            <a:avLst/>
          </a:prstGeom>
          <a:solidFill>
            <a:srgbClr val="43A047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189280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найшвидшого спуску (200 ітерацій) підтвердив компроміс: автоматичний вибір кроку не гарантує виграшу в часі через вартість line search.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2880360"/>
            <a:ext cx="347472" cy="347472"/>
          </a:xfrm>
          <a:prstGeom prst="ellipse">
            <a:avLst/>
          </a:prstGeom>
          <a:solidFill>
            <a:srgbClr val="EF5350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85292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Ньютона показав квадратичну збіжність: 36 ітерацій, loss=5.30×10⁻⁷ — на 4 порядки краще. 100% точність XOR. Практично реалізований завдяки малій розмірності (17 параметрів).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840480"/>
            <a:ext cx="347472" cy="347472"/>
          </a:xfrm>
          <a:prstGeom prst="ellipse">
            <a:avLst/>
          </a:prstGeom>
          <a:solidFill>
            <a:srgbClr val="F9A825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методу залежить від масштабу: для малих мереж — Ньютон; для великих — адаптивні градієнтні методи (Adam, RMSProp) є галузевим стандартом.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840</Words>
  <Application>Microsoft Office PowerPoint</Application>
  <PresentationFormat>Екран (16:9)</PresentationFormat>
  <Paragraphs>161</Paragraphs>
  <Slides>11</Slides>
  <Notes>11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Градієнтні методи оптимізації для навчання нейромережі</dc:title>
  <dc:subject>PptxGenJS Presentation</dc:subject>
  <dc:creator>PptxGenJS</dc:creator>
  <cp:lastModifiedBy>Oleg Shapran</cp:lastModifiedBy>
  <cp:revision>2</cp:revision>
  <dcterms:created xsi:type="dcterms:W3CDTF">2026-05-19T20:27:35Z</dcterms:created>
  <dcterms:modified xsi:type="dcterms:W3CDTF">2026-05-20T11:06:20Z</dcterms:modified>
</cp:coreProperties>
</file>